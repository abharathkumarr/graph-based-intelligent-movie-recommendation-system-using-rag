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Nuni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7470C9-42E9-48C5-83A0-1F60D20CB7A2}">
  <a:tblStyle styleId="{6F7470C9-42E9-48C5-83A0-1F60D20CB7A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Nuni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060bb298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060bb298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Motivation behind our project: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Traditional recommendation systems mostly use: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Collaborative filtering</a:t>
            </a:r>
            <a:r>
              <a:rPr lang="en">
                <a:solidFill>
                  <a:schemeClr val="dk1"/>
                </a:solidFill>
              </a:rPr>
              <a:t>, which looks at user behavior but struggles when there’s not enough data (like new users or new movies)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Content-based filtering</a:t>
            </a:r>
            <a:r>
              <a:rPr lang="en">
                <a:solidFill>
                  <a:schemeClr val="dk1"/>
                </a:solidFill>
              </a:rPr>
              <a:t>, which recommends movies based on features like genre or actors, but it doesn’t understand </a:t>
            </a:r>
            <a:r>
              <a:rPr b="1" lang="en">
                <a:solidFill>
                  <a:schemeClr val="dk1"/>
                </a:solidFill>
              </a:rPr>
              <a:t>deeper relationships</a:t>
            </a:r>
            <a:br>
              <a:rPr b="1" lang="en">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These methods often struggle with bias</a:t>
            </a:r>
            <a:r>
              <a:rPr lang="en">
                <a:solidFill>
                  <a:schemeClr val="dk1"/>
                </a:solidFill>
              </a:rPr>
              <a:t> and a lack of reasoning.</a:t>
            </a:r>
            <a:br>
              <a:rPr lang="en">
                <a:solidFill>
                  <a:schemeClr val="dk1"/>
                </a:solidFill>
              </a:rPr>
            </a:br>
            <a:r>
              <a:rPr lang="en">
                <a:solidFill>
                  <a:schemeClr val="dk1"/>
                </a:solidFill>
              </a:rPr>
              <a:t> For example, they might recommend an action movie just because another one is labeled “action,” without knowing that both share the same </a:t>
            </a:r>
            <a:r>
              <a:rPr b="1" lang="en">
                <a:solidFill>
                  <a:schemeClr val="dk1"/>
                </a:solidFill>
              </a:rPr>
              <a:t>director, theme Our idea</a:t>
            </a:r>
            <a:r>
              <a:rPr lang="en">
                <a:solidFill>
                  <a:schemeClr val="dk1"/>
                </a:solidFill>
              </a:rPr>
              <a:t> was to overcome these limitations by: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Using a </a:t>
            </a:r>
            <a:r>
              <a:rPr b="1" lang="en">
                <a:solidFill>
                  <a:schemeClr val="dk1"/>
                </a:solidFill>
              </a:rPr>
              <a:t>Knowledge Graph</a:t>
            </a:r>
            <a:r>
              <a:rPr lang="en">
                <a:solidFill>
                  <a:schemeClr val="dk1"/>
                </a:solidFill>
              </a:rPr>
              <a:t> to model relationships between entities like movies, genres, actors, and users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combining it with a </a:t>
            </a:r>
            <a:r>
              <a:rPr b="1" lang="en">
                <a:solidFill>
                  <a:schemeClr val="dk1"/>
                </a:solidFill>
              </a:rPr>
              <a:t>language model</a:t>
            </a:r>
            <a:r>
              <a:rPr lang="en">
                <a:solidFill>
                  <a:schemeClr val="dk1"/>
                </a:solidFill>
              </a:rPr>
              <a:t> that can reason over these facts  through a RAG pipeline</a:t>
            </a:r>
            <a:endParaRPr>
              <a:solidFill>
                <a:schemeClr val="dk1"/>
              </a:solidFill>
            </a:endParaRPr>
          </a:p>
          <a:p>
            <a:pPr indent="0" lvl="0" marL="457200" rtl="0" algn="l">
              <a:lnSpc>
                <a:spcPct val="115000"/>
              </a:lnSpc>
              <a:spcBef>
                <a:spcPts val="1200"/>
              </a:spcBef>
              <a:spcAft>
                <a:spcPts val="0"/>
              </a:spcAft>
              <a:buNone/>
            </a:pPr>
            <a:r>
              <a:rPr lang="en">
                <a:solidFill>
                  <a:schemeClr val="dk1"/>
                </a:solidFill>
              </a:rPr>
              <a:t>Our goal is to build a system that’s not just matching based on keywords or ratings, but one that can actually reason over the relationships between people, genres, and movies   leading to more accurate and explainable movie recommendations.</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060bb298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060bb298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cypher queries to extract triplets and relationships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51d6ab6cd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51d6ab6cd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14e7b10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14e7b10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measuring distance or similarity</a:t>
            </a:r>
            <a:r>
              <a:rPr b="1" lang="en">
                <a:solidFill>
                  <a:schemeClr val="dk1"/>
                </a:solidFill>
              </a:rPr>
              <a:t> </a:t>
            </a:r>
            <a:r>
              <a:rPr lang="en">
                <a:solidFill>
                  <a:schemeClr val="dk1"/>
                </a:solidFill>
              </a:rPr>
              <a:t>between a given query vector and other vectors stored in a database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b49a57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1b49a57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extract all relevant facts about movies, genres, actors, directors, and users from the knowledge graph using Cypher queries.</a:t>
            </a:r>
            <a:endParaRPr/>
          </a:p>
          <a:p>
            <a:pPr indent="0" lvl="0" marL="0" rtl="0" algn="l">
              <a:lnSpc>
                <a:spcPct val="115000"/>
              </a:lnSpc>
              <a:spcBef>
                <a:spcPts val="1200"/>
              </a:spcBef>
              <a:spcAft>
                <a:spcPts val="0"/>
              </a:spcAft>
              <a:buClr>
                <a:schemeClr val="dk1"/>
              </a:buClr>
              <a:buSzPts val="1100"/>
              <a:buFont typeface="Arial"/>
              <a:buNone/>
            </a:pPr>
            <a:r>
              <a:rPr lang="en"/>
              <a:t>These facts are then used to create subject–predicate–object triplets for embedding and retrieval.</a:t>
            </a:r>
            <a:endParaRPr/>
          </a:p>
          <a:p>
            <a:pPr indent="0" lvl="0" marL="0" rtl="0" algn="l">
              <a:lnSpc>
                <a:spcPct val="115000"/>
              </a:lnSpc>
              <a:spcBef>
                <a:spcPts val="1200"/>
              </a:spcBef>
              <a:spcAft>
                <a:spcPts val="0"/>
              </a:spcAft>
              <a:buNone/>
            </a:pPr>
            <a:r>
              <a:rPr lang="en">
                <a:solidFill>
                  <a:schemeClr val="dk1"/>
                </a:solidFill>
              </a:rPr>
              <a:t>We loop through every movie and extract </a:t>
            </a:r>
            <a:r>
              <a:rPr b="1" lang="en">
                <a:solidFill>
                  <a:schemeClr val="dk1"/>
                </a:solidFill>
              </a:rPr>
              <a:t>attribute-based facts</a:t>
            </a:r>
            <a:r>
              <a:rPr lang="en">
                <a:solidFill>
                  <a:schemeClr val="dk1"/>
                </a:solidFill>
              </a:rPr>
              <a:t>, like:Year, budget,...</a:t>
            </a:r>
            <a:br>
              <a:rPr lang="en">
                <a:solidFill>
                  <a:schemeClr val="dk1"/>
                </a:solidFill>
              </a:rPr>
            </a:br>
            <a:br>
              <a:rPr lang="en">
                <a:solidFill>
                  <a:schemeClr val="dk1"/>
                </a:solidFill>
              </a:rPr>
            </a:br>
            <a:r>
              <a:rPr lang="en">
                <a:solidFill>
                  <a:schemeClr val="dk1"/>
                </a:solidFill>
              </a:rPr>
              <a:t>After processing all the data, you generated: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229,894 total triplets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After generating triplets, we converted them into plain English sentences.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This makes the knowledge easier for the language model to understand during the RAG process.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Sentences preserve the same factual meaning but are more suitable for embedding and retrieval.</a:t>
            </a:r>
            <a:endParaRPr b="1">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These are then encoded into embeddings, stored in FAISS, and retrieved using vector similarity.</a:t>
            </a:r>
            <a:endParaRPr b="1">
              <a:solidFill>
                <a:schemeClr val="dk1"/>
              </a:solidFill>
            </a:endParaRPr>
          </a:p>
          <a:p>
            <a:pPr indent="0" lvl="0" marL="0" rtl="0" algn="l">
              <a:spcBef>
                <a:spcPts val="0"/>
              </a:spcBef>
              <a:spcAft>
                <a:spcPts val="0"/>
              </a:spcAft>
              <a:buNone/>
            </a:pPr>
            <a:r>
              <a:rPr b="1" lang="en">
                <a:solidFill>
                  <a:schemeClr val="dk1"/>
                </a:solidFill>
              </a:rPr>
              <a:t>Finally, the top relevant sentences are passed to a language model to generate a grounded answer.</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060bb298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060bb298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We did not build the graph manually, but used Cypher queries to extract meaningful facts as triplets from both relationships and node properties.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extract all relevant facts about movies, genres, actors, directors, and users from the knowledge graph using Cypher queries.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These facts are then used to create subject–predicate–object triplets for embedding and retrieval.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loop through every movie and extract </a:t>
            </a:r>
            <a:r>
              <a:rPr b="1" lang="en">
                <a:solidFill>
                  <a:schemeClr val="dk1"/>
                </a:solidFill>
              </a:rPr>
              <a:t>attribute-based facts</a:t>
            </a:r>
            <a:r>
              <a:rPr lang="en">
                <a:solidFill>
                  <a:schemeClr val="dk1"/>
                </a:solidFill>
              </a:rPr>
              <a:t>, like:Year, budget,...</a:t>
            </a:r>
            <a:br>
              <a:rPr lang="en">
                <a:solidFill>
                  <a:schemeClr val="dk1"/>
                </a:solidFill>
              </a:rPr>
            </a:br>
            <a:br>
              <a:rPr lang="en">
                <a:solidFill>
                  <a:schemeClr val="dk1"/>
                </a:solidFill>
              </a:rPr>
            </a:br>
            <a:r>
              <a:rPr lang="en">
                <a:solidFill>
                  <a:schemeClr val="dk1"/>
                </a:solidFill>
              </a:rPr>
              <a:t>After processing all the data, you generated: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229,894 total triplets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After generating triplets, we converted them into plain English sentences.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This makes the knowledge easier for the language model to understand during the RAG process.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Sentences preserve the same factual meaning but are more suitable for embedding and retrieval.</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Example:</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Triplet: ('Toy Story', 'was released in year', '1995')</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Sentence: "Toy Story was released in year 1995"</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Total Sentences Created: 229,894 (same as the number of triplets)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14e7b100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14e7b100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encodes the meaning of the sentence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Used HuggingFace’s all-MiniLM-L6-v2 model to generate sentence embeddings</a:t>
            </a:r>
            <a:endParaRPr/>
          </a:p>
          <a:p>
            <a:pPr indent="0" lvl="0" marL="0" rtl="0" algn="l">
              <a:spcBef>
                <a:spcPts val="0"/>
              </a:spcBef>
              <a:spcAft>
                <a:spcPts val="0"/>
              </a:spcAft>
              <a:buNone/>
            </a:pPr>
            <a:r>
              <a:rPr lang="en">
                <a:solidFill>
                  <a:schemeClr val="dk1"/>
                </a:solidFill>
              </a:rPr>
              <a:t>We use this model because it’s fast, lightweight, and accurate for sentence embeddings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encode sentences to convert language into vectors, which allows semantic search in our RAG pipeline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plain English sentence (triplet) is converted into a 384-dimensional 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allows us to compare sentence meanings using vector similarity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Batch-encoded all 229,894 sentences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 output shape: (229894, 384)</a:t>
            </a:r>
            <a:br>
              <a:rPr lang="en"/>
            </a:br>
            <a:br>
              <a:rPr lang="en"/>
            </a:br>
            <a:r>
              <a:rPr lang="en">
                <a:solidFill>
                  <a:schemeClr val="dk1"/>
                </a:solidFill>
              </a:rPr>
              <a:t>Embeddings capture the </a:t>
            </a:r>
            <a:r>
              <a:rPr b="1" lang="en">
                <a:solidFill>
                  <a:schemeClr val="dk1"/>
                </a:solidFill>
              </a:rPr>
              <a:t>semantic meaning</a:t>
            </a:r>
            <a:r>
              <a:rPr lang="en">
                <a:solidFill>
                  <a:schemeClr val="dk1"/>
                </a:solidFill>
              </a:rPr>
              <a:t> of a sentence, meaning they reflect the actual idea or intent behind the text.</a:t>
            </a:r>
            <a:endParaRPr>
              <a:solidFill>
                <a:schemeClr val="dk1"/>
              </a:solidFill>
            </a:endParaRPr>
          </a:p>
          <a:p>
            <a:pPr indent="0" lvl="0" marL="0" rtl="0" algn="l">
              <a:spcBef>
                <a:spcPts val="0"/>
              </a:spcBef>
              <a:spcAft>
                <a:spcPts val="0"/>
              </a:spcAft>
              <a:buNone/>
            </a:pPr>
            <a:r>
              <a:rPr lang="en">
                <a:solidFill>
                  <a:schemeClr val="dk1"/>
                </a:solidFill>
              </a:rPr>
              <a:t>This helps our model find related triplets even if the user uses different words — for example, it knows that </a:t>
            </a:r>
            <a:r>
              <a:rPr i="1" lang="en">
                <a:solidFill>
                  <a:schemeClr val="dk1"/>
                </a:solidFill>
              </a:rPr>
              <a:t>"acted in"</a:t>
            </a:r>
            <a:r>
              <a:rPr lang="en">
                <a:solidFill>
                  <a:schemeClr val="dk1"/>
                </a:solidFill>
              </a:rPr>
              <a:t> and </a:t>
            </a:r>
            <a:r>
              <a:rPr i="1" lang="en">
                <a:solidFill>
                  <a:schemeClr val="dk1"/>
                </a:solidFill>
              </a:rPr>
              <a:t>"features"</a:t>
            </a:r>
            <a:r>
              <a:rPr lang="en">
                <a:solidFill>
                  <a:schemeClr val="dk1"/>
                </a:solidFill>
              </a:rPr>
              <a:t> are similar concepts.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14e7b100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514e7b100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marR="381000" rtl="0" algn="l">
              <a:lnSpc>
                <a:spcPct val="115000"/>
              </a:lnSpc>
              <a:spcBef>
                <a:spcPts val="1200"/>
              </a:spcBef>
              <a:spcAft>
                <a:spcPts val="0"/>
              </a:spcAft>
              <a:buClr>
                <a:schemeClr val="dk1"/>
              </a:buClr>
              <a:buSzPts val="1100"/>
              <a:buChar char="●"/>
            </a:pPr>
            <a:r>
              <a:rPr b="1" lang="en">
                <a:solidFill>
                  <a:schemeClr val="dk1"/>
                </a:solidFill>
              </a:rPr>
              <a:t>FAISS</a:t>
            </a:r>
            <a:r>
              <a:rPr lang="en">
                <a:solidFill>
                  <a:schemeClr val="dk1"/>
                </a:solidFill>
              </a:rPr>
              <a:t> (Facebook AI Similarity Search) is a library developed by Facebook to perform </a:t>
            </a:r>
            <a:r>
              <a:rPr b="1" lang="en">
                <a:solidFill>
                  <a:schemeClr val="dk1"/>
                </a:solidFill>
              </a:rPr>
              <a:t>fast similarity search</a:t>
            </a:r>
            <a:r>
              <a:rPr lang="en">
                <a:solidFill>
                  <a:schemeClr val="dk1"/>
                </a:solidFill>
              </a:rPr>
              <a:t> on large sets of high-dimensional vectors.</a:t>
            </a:r>
            <a:endParaRPr>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lang="en">
                <a:solidFill>
                  <a:schemeClr val="dk1"/>
                </a:solidFill>
              </a:rPr>
              <a:t>One row = one sentence</a:t>
            </a:r>
            <a:endParaRPr>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lang="en">
                <a:solidFill>
                  <a:schemeClr val="dk1"/>
                </a:solidFill>
              </a:rPr>
              <a:t>One row contains 384 float numbers representing its </a:t>
            </a:r>
            <a:r>
              <a:rPr b="1" lang="en">
                <a:solidFill>
                  <a:schemeClr val="dk1"/>
                </a:solidFill>
              </a:rPr>
              <a:t>semantic meaning</a:t>
            </a:r>
            <a:endParaRPr b="1">
              <a:solidFill>
                <a:schemeClr val="dk1"/>
              </a:solidFill>
            </a:endParaRPr>
          </a:p>
          <a:p>
            <a:pPr indent="-298450" lvl="0" marL="457200" marR="381000" rtl="0" algn="l">
              <a:lnSpc>
                <a:spcPct val="115000"/>
              </a:lnSpc>
              <a:spcBef>
                <a:spcPts val="0"/>
              </a:spcBef>
              <a:spcAft>
                <a:spcPts val="0"/>
              </a:spcAft>
              <a:buClr>
                <a:schemeClr val="dk1"/>
              </a:buClr>
              <a:buSzPts val="1100"/>
              <a:buChar char="●"/>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Creates a </a:t>
            </a:r>
            <a:r>
              <a:rPr b="1" lang="en">
                <a:solidFill>
                  <a:schemeClr val="dk1"/>
                </a:solidFill>
              </a:rPr>
              <a:t>flat FAISS index</a:t>
            </a:r>
            <a:r>
              <a:rPr lang="en">
                <a:solidFill>
                  <a:schemeClr val="dk1"/>
                </a:solidFill>
              </a:rPr>
              <a:t> using </a:t>
            </a:r>
            <a:r>
              <a:rPr b="1" lang="en">
                <a:solidFill>
                  <a:schemeClr val="dk1"/>
                </a:solidFill>
              </a:rPr>
              <a:t>L2 distance</a:t>
            </a:r>
            <a:r>
              <a:rPr lang="en">
                <a:solidFill>
                  <a:schemeClr val="dk1"/>
                </a:solidFill>
              </a:rPr>
              <a:t> (Euclidean distance) to compare embeddings</a:t>
            </a:r>
            <a:br>
              <a:rPr lang="en">
                <a:solidFill>
                  <a:schemeClr val="dk1"/>
                </a:solidFill>
              </a:rPr>
            </a:br>
            <a:r>
              <a:rPr lang="en">
                <a:solidFill>
                  <a:schemeClr val="dk1"/>
                </a:solidFill>
              </a:rPr>
              <a:t>Adds all 229,894 sentence embeddings into the FAISS index for efficient similarity 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457200" lvl="0" marL="0" rtl="0" algn="l">
              <a:lnSpc>
                <a:spcPct val="115000"/>
              </a:lnSpc>
              <a:spcBef>
                <a:spcPts val="1200"/>
              </a:spcBef>
              <a:spcAft>
                <a:spcPts val="0"/>
              </a:spcAft>
              <a:buNone/>
            </a:pPr>
            <a:r>
              <a:rPr lang="en">
                <a:solidFill>
                  <a:schemeClr val="dk1"/>
                </a:solidFill>
              </a:rPr>
              <a:t>Other options:</a:t>
            </a:r>
            <a:br>
              <a:rPr lang="en">
                <a:solidFill>
                  <a:schemeClr val="dk1"/>
                </a:solidFill>
              </a:rPr>
            </a:br>
            <a:r>
              <a:rPr lang="en">
                <a:solidFill>
                  <a:schemeClr val="dk1"/>
                </a:solidFill>
              </a:rPr>
              <a:t>	FAISS	Best for local, fast similarity search (what you used)</a:t>
            </a:r>
            <a:endParaRPr>
              <a:solidFill>
                <a:schemeClr val="dk1"/>
              </a:solidFill>
            </a:endParaRPr>
          </a:p>
          <a:p>
            <a:pPr indent="457200" lvl="0" marL="0" rtl="0" algn="l">
              <a:lnSpc>
                <a:spcPct val="115000"/>
              </a:lnSpc>
              <a:spcBef>
                <a:spcPts val="1200"/>
              </a:spcBef>
              <a:spcAft>
                <a:spcPts val="1200"/>
              </a:spcAft>
              <a:buNone/>
            </a:pPr>
            <a:r>
              <a:rPr lang="en">
                <a:solidFill>
                  <a:schemeClr val="dk1"/>
                </a:solidFill>
              </a:rPr>
              <a:t>Chroma	Python-native lightweight vector DB (great with LangChain)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1090cc0a3_1_5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51090cc0a3_1_5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created a simple retriever function that takes a user query, encodes it using our sentence embedding model, and searches the FAISS index for the top-k most similar triplet sentences.</a:t>
            </a:r>
            <a:endParaRPr/>
          </a:p>
          <a:p>
            <a:pPr indent="0" lvl="0" marL="0" rtl="0" algn="l">
              <a:spcBef>
                <a:spcPts val="0"/>
              </a:spcBef>
              <a:spcAft>
                <a:spcPts val="0"/>
              </a:spcAft>
              <a:buNone/>
            </a:pPr>
            <a:r>
              <a:rPr lang="en"/>
              <a:t>This allows us to dynamically retrieve relevant facts from the graph in plain language, which can then be passed to the language model for answering the query.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enhanced our retriever by adding a re-ranking step based on cosine similarity.</a:t>
            </a:r>
            <a:endParaRPr/>
          </a:p>
          <a:p>
            <a:pPr indent="0" lvl="0" marL="0" rtl="0" algn="l">
              <a:spcBef>
                <a:spcPts val="0"/>
              </a:spcBef>
              <a:spcAft>
                <a:spcPts val="0"/>
              </a:spcAft>
              <a:buNone/>
            </a:pPr>
            <a:r>
              <a:rPr lang="en"/>
              <a:t>&gt;Cosine similarity is better for meaning-based ranking than L2 distance</a:t>
            </a:r>
            <a:endParaRPr/>
          </a:p>
          <a:p>
            <a:pPr indent="0" lvl="0" marL="0" rtl="0" algn="l">
              <a:spcBef>
                <a:spcPts val="0"/>
              </a:spcBef>
              <a:spcAft>
                <a:spcPts val="0"/>
              </a:spcAft>
              <a:buNone/>
            </a:pPr>
            <a:r>
              <a:rPr lang="en"/>
              <a:t>&gt;The distance is a measure of how similar the retrieved sentence (triplet) is to your query in vector space.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lower distance means the model retrieved a triplet that's closer in meaning to what the user asked.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51090cc0a3_1_5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51090cc0a3_1_5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building the RAG chain, we created a custom FAISS retriever with cosine re-ranking to evaluate how well our triplets matched user queries.</a:t>
            </a:r>
            <a:endParaRPr/>
          </a:p>
          <a:p>
            <a:pPr indent="0" lvl="0" marL="0" rtl="0" algn="l">
              <a:spcBef>
                <a:spcPts val="0"/>
              </a:spcBef>
              <a:spcAft>
                <a:spcPts val="0"/>
              </a:spcAft>
              <a:buNone/>
            </a:pPr>
            <a:r>
              <a:rPr lang="en"/>
              <a:t>This helped us verify that the embeddings captured meaning correctly. Once validated, we integrated everything into LangChain's RetrievalQA chain, which handles retrieval and generation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&gt;The user’s query is embedded and compared to all triplet sentence embeddings using FAISS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Top-k most relevant sentences (e.g., 500) are retrieved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&gt;Retrieved facts are injected into a custom prompt:</a:t>
            </a:r>
            <a:endParaRPr/>
          </a:p>
          <a:p>
            <a:pPr indent="0" lvl="0" marL="0" rtl="0" algn="l">
              <a:spcBef>
                <a:spcPts val="0"/>
              </a:spcBef>
              <a:spcAft>
                <a:spcPts val="0"/>
              </a:spcAft>
              <a:buNone/>
            </a:pPr>
            <a:r>
              <a:rPr lang="en"/>
              <a:t>Facts:</a:t>
            </a:r>
            <a:endParaRPr/>
          </a:p>
          <a:p>
            <a:pPr indent="0" lvl="0" marL="0" rtl="0" algn="l">
              <a:spcBef>
                <a:spcPts val="0"/>
              </a:spcBef>
              <a:spcAft>
                <a:spcPts val="0"/>
              </a:spcAft>
              <a:buNone/>
            </a:pPr>
            <a:r>
              <a:rPr lang="en"/>
              <a:t>[triplets]</a:t>
            </a:r>
            <a:endParaRPr/>
          </a:p>
          <a:p>
            <a:pPr indent="0" lvl="0" marL="0" rtl="0" algn="l">
              <a:spcBef>
                <a:spcPts val="0"/>
              </a:spcBef>
              <a:spcAft>
                <a:spcPts val="0"/>
              </a:spcAft>
              <a:buNone/>
            </a:pPr>
            <a:r>
              <a:rPr lang="en"/>
              <a:t>Question:</a:t>
            </a:r>
            <a:endParaRPr/>
          </a:p>
          <a:p>
            <a:pPr indent="0" lvl="0" marL="0" rtl="0" algn="l">
              <a:spcBef>
                <a:spcPts val="0"/>
              </a:spcBef>
              <a:spcAft>
                <a:spcPts val="0"/>
              </a:spcAft>
              <a:buNone/>
            </a:pPr>
            <a:r>
              <a:rPr lang="en"/>
              <a:t>[user query]</a:t>
            </a:r>
            <a:endParaRPr/>
          </a:p>
          <a:p>
            <a:pPr indent="0" lvl="0" marL="0" rtl="0" algn="l">
              <a:spcBef>
                <a:spcPts val="0"/>
              </a:spcBef>
              <a:spcAft>
                <a:spcPts val="0"/>
              </a:spcAft>
              <a:buNone/>
            </a:pPr>
            <a:r>
              <a:rPr lang="en"/>
              <a:t>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&gt;The LLM (LLaMA3) processes both the query and the supporting facts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Outputs a natural language answer that is accurate and explainable</a:t>
            </a:r>
            <a:br>
              <a:rPr lang="en"/>
            </a:br>
            <a:br>
              <a:rPr lang="en"/>
            </a:b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1090cc0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51090cc0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can’t get all answers because it has token limitations </a:t>
            </a:r>
            <a:endParaRPr/>
          </a:p>
          <a:p>
            <a:pPr indent="0" lvl="0" marL="0" rtl="0" algn="l">
              <a:spcBef>
                <a:spcPts val="0"/>
              </a:spcBef>
              <a:spcAft>
                <a:spcPts val="0"/>
              </a:spcAft>
              <a:buNone/>
            </a:pPr>
            <a:r>
              <a:rPr lang="en"/>
              <a:t>Limitations come from model we use based on resources</a:t>
            </a:r>
            <a:endParaRPr/>
          </a:p>
          <a:p>
            <a:pPr indent="0" lvl="0" marL="0" rtl="0" algn="l">
              <a:spcBef>
                <a:spcPts val="0"/>
              </a:spcBef>
              <a:spcAft>
                <a:spcPts val="0"/>
              </a:spcAft>
              <a:buNone/>
            </a:pPr>
            <a:r>
              <a:rPr lang="en"/>
              <a:t>Note key points in query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5dce019c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55dce019c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tested our RAG chain with a complex query asking for a recent adventure movie with Leonardo DiCaprio and a rating above 3.</a:t>
            </a:r>
            <a:endParaRPr/>
          </a:p>
          <a:p>
            <a:pPr indent="0" lvl="0" marL="0" rtl="0" algn="l">
              <a:spcBef>
                <a:spcPts val="0"/>
              </a:spcBef>
              <a:spcAft>
                <a:spcPts val="0"/>
              </a:spcAft>
              <a:buNone/>
            </a:pPr>
            <a:r>
              <a:rPr lang="en"/>
              <a:t>The model retrieved relevant triplets and correctly recommended The Revenant (2015) with an IMDb rating of 8.0.</a:t>
            </a:r>
            <a:endParaRPr/>
          </a:p>
          <a:p>
            <a:pPr indent="0" lvl="0" marL="0" rtl="0" algn="l">
              <a:spcBef>
                <a:spcPts val="0"/>
              </a:spcBef>
              <a:spcAft>
                <a:spcPts val="0"/>
              </a:spcAft>
              <a:buNone/>
            </a:pPr>
            <a:r>
              <a:rPr lang="en"/>
              <a:t>This demonstrates that our system is capable of understanding and reasoning across multiple constraints to provide accurate movie recommendations.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08e6cd06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e08e6cd06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tested our RAG chain with a complex query asking for a recent adventure movie with Leonardo DiCaprio and a rating above 3.</a:t>
            </a:r>
            <a:endParaRPr/>
          </a:p>
          <a:p>
            <a:pPr indent="0" lvl="0" marL="0" rtl="0" algn="l">
              <a:spcBef>
                <a:spcPts val="0"/>
              </a:spcBef>
              <a:spcAft>
                <a:spcPts val="0"/>
              </a:spcAft>
              <a:buNone/>
            </a:pPr>
            <a:r>
              <a:rPr lang="en"/>
              <a:t>The model retrieved relevant triplets and correctly recommended The Revenant (2015) with an IMDb rating of 8.0.</a:t>
            </a:r>
            <a:endParaRPr/>
          </a:p>
          <a:p>
            <a:pPr indent="0" lvl="0" marL="0" rtl="0" algn="l">
              <a:spcBef>
                <a:spcPts val="0"/>
              </a:spcBef>
              <a:spcAft>
                <a:spcPts val="0"/>
              </a:spcAft>
              <a:buNone/>
            </a:pPr>
            <a:r>
              <a:rPr lang="en"/>
              <a:t>This demonstrates that our system is capable of understanding and reasoning across multiple constraints to provide accurate movie recommendations.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08e6cd0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08e6cd0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validate our RAG system, we tested it on example queries and compared its output to manually verified ground truth movie lists.</a:t>
            </a:r>
            <a:endParaRPr/>
          </a:p>
          <a:p>
            <a:pPr indent="0" lvl="0" marL="0" rtl="0" algn="l">
              <a:spcBef>
                <a:spcPts val="0"/>
              </a:spcBef>
              <a:spcAft>
                <a:spcPts val="0"/>
              </a:spcAft>
              <a:buNone/>
            </a:pPr>
            <a:r>
              <a:rPr lang="en"/>
              <a:t>We used standard IR metrics: Precision@10, Recall@10, and F1-score.</a:t>
            </a:r>
            <a:endParaRPr/>
          </a:p>
          <a:p>
            <a:pPr indent="0" lvl="0" marL="0" rtl="0" algn="l">
              <a:spcBef>
                <a:spcPts val="0"/>
              </a:spcBef>
              <a:spcAft>
                <a:spcPts val="0"/>
              </a:spcAft>
              <a:buNone/>
            </a:pPr>
            <a:r>
              <a:rPr lang="en"/>
              <a:t>This evaluation shows how well the system retrieves relevant results not just grammatically correct 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“@10” in Precision@10 or Recall@10 means we’re evaluating only the top 10 results returned by the system.</a:t>
            </a:r>
            <a:endParaRPr/>
          </a:p>
          <a:p>
            <a:pPr indent="0" lvl="0" marL="0" rtl="0" algn="l">
              <a:spcBef>
                <a:spcPts val="0"/>
              </a:spcBef>
              <a:spcAft>
                <a:spcPts val="0"/>
              </a:spcAft>
              <a:buNone/>
            </a:pPr>
            <a:r>
              <a:rPr lang="en"/>
              <a:t>This reflects real-world usage where users usually care about the top few recommendations.</a:t>
            </a:r>
            <a:br>
              <a:rPr lang="en"/>
            </a:br>
            <a:br>
              <a:rPr lang="en"/>
            </a:br>
            <a:r>
              <a:rPr lang="en"/>
              <a:t>Our RAG system achieved an average Precision@10 of 0.65, meaning most of its top results were relevant.</a:t>
            </a:r>
            <a:endParaRPr/>
          </a:p>
          <a:p>
            <a:pPr indent="0" lvl="0" marL="0" rtl="0" algn="l">
              <a:spcBef>
                <a:spcPts val="0"/>
              </a:spcBef>
              <a:spcAft>
                <a:spcPts val="0"/>
              </a:spcAft>
              <a:buNone/>
            </a:pPr>
            <a:r>
              <a:rPr lang="en"/>
              <a:t>However, the Recall@10 was 0.26, indicating that it missed many other relevant results.</a:t>
            </a:r>
            <a:endParaRPr/>
          </a:p>
          <a:p>
            <a:pPr indent="0" lvl="0" marL="0" rtl="0" algn="l">
              <a:spcBef>
                <a:spcPts val="0"/>
              </a:spcBef>
              <a:spcAft>
                <a:spcPts val="0"/>
              </a:spcAft>
              <a:buNone/>
            </a:pPr>
            <a:r>
              <a:rPr lang="en"/>
              <a:t>This is expected in a top-10 evaluation setting. Our system is accurate but not exhaustive, and improving recall is part of our future work.</a:t>
            </a:r>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Overall, the system prioritizes accuracy over completeness.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In our evaluation, we used @10 metrics to focus only on the top 10 results the system returned — since that’s what a user would typically look at.</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Precision@10 measures how many of those were correct, while Recall@10 checks how many ground truth answers were recovered within that top 10.</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F1@10 balances the two.</a:t>
            </a:r>
            <a:endParaRPr b="1"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1090cc0a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1090cc0a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validate our RAG system, we tested it on example queries and compared its output to manually verified ground truth movie lists.</a:t>
            </a:r>
            <a:endParaRPr/>
          </a:p>
          <a:p>
            <a:pPr indent="0" lvl="0" marL="0" rtl="0" algn="l">
              <a:spcBef>
                <a:spcPts val="0"/>
              </a:spcBef>
              <a:spcAft>
                <a:spcPts val="0"/>
              </a:spcAft>
              <a:buNone/>
            </a:pPr>
            <a:r>
              <a:rPr lang="en"/>
              <a:t>We used standard IR metrics: Precision@10, Recall@10, and F1-score.</a:t>
            </a:r>
            <a:endParaRPr/>
          </a:p>
          <a:p>
            <a:pPr indent="0" lvl="0" marL="0" rtl="0" algn="l">
              <a:spcBef>
                <a:spcPts val="0"/>
              </a:spcBef>
              <a:spcAft>
                <a:spcPts val="0"/>
              </a:spcAft>
              <a:buNone/>
            </a:pPr>
            <a:r>
              <a:rPr lang="en"/>
              <a:t>This evaluation shows how well the system retrieves relevant results not just grammatically correct 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“@10” in Precision@10 or Recall@10 means we’re evaluating only the top 10 results returned by the system.</a:t>
            </a:r>
            <a:endParaRPr/>
          </a:p>
          <a:p>
            <a:pPr indent="0" lvl="0" marL="0" rtl="0" algn="l">
              <a:spcBef>
                <a:spcPts val="0"/>
              </a:spcBef>
              <a:spcAft>
                <a:spcPts val="0"/>
              </a:spcAft>
              <a:buNone/>
            </a:pPr>
            <a:r>
              <a:rPr lang="en"/>
              <a:t>This reflects real-world usage where users usually care about the top few recommendations.</a:t>
            </a:r>
            <a:br>
              <a:rPr lang="en"/>
            </a:br>
            <a:br>
              <a:rPr lang="en"/>
            </a:br>
            <a:r>
              <a:rPr lang="en"/>
              <a:t>Our RAG system achieved an average Precision@10 of 0.65, meaning most of its top results were relevant.</a:t>
            </a:r>
            <a:endParaRPr/>
          </a:p>
          <a:p>
            <a:pPr indent="0" lvl="0" marL="0" rtl="0" algn="l">
              <a:spcBef>
                <a:spcPts val="0"/>
              </a:spcBef>
              <a:spcAft>
                <a:spcPts val="0"/>
              </a:spcAft>
              <a:buNone/>
            </a:pPr>
            <a:r>
              <a:rPr lang="en"/>
              <a:t>However, the Recall@10 was 0.26, indicating that it missed many other relevant results.</a:t>
            </a:r>
            <a:endParaRPr/>
          </a:p>
          <a:p>
            <a:pPr indent="0" lvl="0" marL="0" rtl="0" algn="l">
              <a:spcBef>
                <a:spcPts val="0"/>
              </a:spcBef>
              <a:spcAft>
                <a:spcPts val="0"/>
              </a:spcAft>
              <a:buNone/>
            </a:pPr>
            <a:r>
              <a:rPr lang="en"/>
              <a:t>This is expected in a top-10 evaluation setting. Our system is accurate but not exhaustive, and improving recall is part of our future work.</a:t>
            </a:r>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Overall, the system prioritizes accuracy over completeness.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In our evaluation, we used @10 metrics to focus only on the top 10 results the system returned — since that’s what a user would typically look at.</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Precision@10 measures how many of those were correct, while Recall@10 checks how many ground truth answers were recovered within that top 10.</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F1@10 balances the two.</a:t>
            </a:r>
            <a:endParaRPr b="1"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08e6cd06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e08e6cd06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validate our RAG system, we tested it on example queries and compared its output to manually verified ground truth movie lists.</a:t>
            </a:r>
            <a:endParaRPr/>
          </a:p>
          <a:p>
            <a:pPr indent="0" lvl="0" marL="0" rtl="0" algn="l">
              <a:spcBef>
                <a:spcPts val="0"/>
              </a:spcBef>
              <a:spcAft>
                <a:spcPts val="0"/>
              </a:spcAft>
              <a:buNone/>
            </a:pPr>
            <a:r>
              <a:rPr lang="en"/>
              <a:t>We used standard IR metrics: Precision@10, Recall@10, and F1-score.</a:t>
            </a:r>
            <a:endParaRPr/>
          </a:p>
          <a:p>
            <a:pPr indent="0" lvl="0" marL="0" rtl="0" algn="l">
              <a:spcBef>
                <a:spcPts val="0"/>
              </a:spcBef>
              <a:spcAft>
                <a:spcPts val="0"/>
              </a:spcAft>
              <a:buNone/>
            </a:pPr>
            <a:r>
              <a:rPr lang="en"/>
              <a:t>This evaluation shows how well the system retrieves relevant results not just grammatically correct ones.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“@10” in Precision@10 or Recall@10 means we’re evaluating only the top 10 results returned by the system.</a:t>
            </a:r>
            <a:endParaRPr/>
          </a:p>
          <a:p>
            <a:pPr indent="0" lvl="0" marL="0" rtl="0" algn="l">
              <a:spcBef>
                <a:spcPts val="0"/>
              </a:spcBef>
              <a:spcAft>
                <a:spcPts val="0"/>
              </a:spcAft>
              <a:buNone/>
            </a:pPr>
            <a:r>
              <a:rPr lang="en"/>
              <a:t>This reflects real-world usage where users usually care about the top few recommendations.</a:t>
            </a:r>
            <a:br>
              <a:rPr lang="en"/>
            </a:br>
            <a:br>
              <a:rPr lang="en"/>
            </a:br>
            <a:r>
              <a:rPr lang="en"/>
              <a:t>Our RAG system achieved an average Precision@10 of 0.65, meaning most of its top results were relevant.</a:t>
            </a:r>
            <a:endParaRPr/>
          </a:p>
          <a:p>
            <a:pPr indent="0" lvl="0" marL="0" rtl="0" algn="l">
              <a:spcBef>
                <a:spcPts val="0"/>
              </a:spcBef>
              <a:spcAft>
                <a:spcPts val="0"/>
              </a:spcAft>
              <a:buNone/>
            </a:pPr>
            <a:r>
              <a:rPr lang="en"/>
              <a:t>However, the Recall@10 was 0.26, indicating that it missed many other relevant results.</a:t>
            </a:r>
            <a:endParaRPr/>
          </a:p>
          <a:p>
            <a:pPr indent="0" lvl="0" marL="0" rtl="0" algn="l">
              <a:spcBef>
                <a:spcPts val="0"/>
              </a:spcBef>
              <a:spcAft>
                <a:spcPts val="0"/>
              </a:spcAft>
              <a:buNone/>
            </a:pPr>
            <a:r>
              <a:rPr lang="en"/>
              <a:t>This is expected in a top-10 evaluation setting. Our system is accurate but not exhaustive, and improving recall is part of our future work.</a:t>
            </a:r>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Overall, the system prioritizes accuracy over completeness.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In our evaluation, we used @10 metrics to focus only on the top 10 results the system returned — since that’s what a user would typically look at.</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Precision@10 measures how many of those were correct, while Recall@10 checks how many ground truth answers were recovered within that top 10.</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 sz="1200">
                <a:solidFill>
                  <a:schemeClr val="dk1"/>
                </a:solidFill>
                <a:latin typeface="Calibri"/>
                <a:ea typeface="Calibri"/>
                <a:cs typeface="Calibri"/>
                <a:sym typeface="Calibri"/>
              </a:rPr>
              <a:t>F1@10 balances the two.</a:t>
            </a:r>
            <a:endParaRPr b="1"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1090cc0a3_1_5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1090cc0a3_1_5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Retrieve</a:t>
            </a:r>
            <a:r>
              <a:rPr lang="en"/>
              <a:t> more relevant triplets for each </a:t>
            </a:r>
            <a:r>
              <a:rPr lang="en"/>
              <a:t>query</a:t>
            </a:r>
            <a:r>
              <a:rPr lang="en"/>
              <a:t>. If narrow set of relevant triplets might miss useful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Combine plot summaries and KG triplet </a:t>
            </a:r>
            <a:r>
              <a:rPr lang="en"/>
              <a:t>facts</a:t>
            </a:r>
            <a:r>
              <a:rPr lang="en"/>
              <a:t> during </a:t>
            </a:r>
            <a:r>
              <a:rPr lang="en"/>
              <a:t>retrieval</a:t>
            </a:r>
            <a:r>
              <a:rPr lang="en"/>
              <a:t>. </a:t>
            </a:r>
            <a:r>
              <a:rPr lang="en"/>
              <a:t>Some</a:t>
            </a:r>
            <a:r>
              <a:rPr lang="en"/>
              <a:t> queries better answered by plot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Fine-tuning how the </a:t>
            </a:r>
            <a:r>
              <a:rPr lang="en"/>
              <a:t>candidate</a:t>
            </a:r>
            <a:r>
              <a:rPr lang="en"/>
              <a:t> facts are ordered based on the most relevant ones first. Could use supervised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Bigger datasets like IMDb or The Movie Database (TMDB)</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51090cc0a3_1_5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51090cc0a3_1_5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060bb298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5060bb298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arxiv.org/abs/2005.11401" TargetMode="External"/><Relationship Id="rId4" Type="http://schemas.openxmlformats.org/officeDocument/2006/relationships/hyperlink" Target="https://doi.org/10.1145/3447772" TargetMode="External"/><Relationship Id="rId5" Type="http://schemas.openxmlformats.org/officeDocument/2006/relationships/hyperlink" Target="https://arxiv.org/html/2412.05547v1" TargetMode="External"/><Relationship Id="rId6" Type="http://schemas.openxmlformats.org/officeDocument/2006/relationships/hyperlink" Target="https://doi.org/10.1109/idciot56793.2023.10053435" TargetMode="External"/><Relationship Id="rId7" Type="http://schemas.openxmlformats.org/officeDocument/2006/relationships/hyperlink" Target="https://doi.org/10.1145/3626772.3661370" TargetMode="External"/><Relationship Id="rId8" Type="http://schemas.openxmlformats.org/officeDocument/2006/relationships/hyperlink" Target="https://neo4j.com/docs/getting-started/appendix/example-dat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27" name="Shape 127"/>
        <p:cNvGrpSpPr/>
        <p:nvPr/>
      </p:nvGrpSpPr>
      <p:grpSpPr>
        <a:xfrm>
          <a:off x="0" y="0"/>
          <a:ext cx="0" cy="0"/>
          <a:chOff x="0" y="0"/>
          <a:chExt cx="0" cy="0"/>
        </a:xfrm>
      </p:grpSpPr>
      <p:sp>
        <p:nvSpPr>
          <p:cNvPr id="128" name="Google Shape;128;p13"/>
          <p:cNvSpPr txBox="1"/>
          <p:nvPr>
            <p:ph type="ctrTitle"/>
          </p:nvPr>
        </p:nvSpPr>
        <p:spPr>
          <a:xfrm>
            <a:off x="1217100" y="1524750"/>
            <a:ext cx="6709800" cy="1448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b="1">
              <a:solidFill>
                <a:srgbClr val="000000"/>
              </a:solidFill>
            </a:endParaRPr>
          </a:p>
          <a:p>
            <a:pPr indent="0" lvl="0" marL="0" rtl="0" algn="ctr">
              <a:spcBef>
                <a:spcPts val="0"/>
              </a:spcBef>
              <a:spcAft>
                <a:spcPts val="0"/>
              </a:spcAft>
              <a:buNone/>
            </a:pPr>
            <a:r>
              <a:rPr b="1" lang="en">
                <a:solidFill>
                  <a:srgbClr val="000000"/>
                </a:solidFill>
              </a:rPr>
              <a:t>Graph Based Intelligent Movie Recommendation System Using RAG</a:t>
            </a:r>
            <a:endParaRPr b="1">
              <a:solidFill>
                <a:srgbClr val="000000"/>
              </a:solidFill>
            </a:endParaRPr>
          </a:p>
        </p:txBody>
      </p:sp>
      <p:sp>
        <p:nvSpPr>
          <p:cNvPr id="129" name="Google Shape;129;p13"/>
          <p:cNvSpPr txBox="1"/>
          <p:nvPr>
            <p:ph idx="1" type="subTitle"/>
          </p:nvPr>
        </p:nvSpPr>
        <p:spPr>
          <a:xfrm>
            <a:off x="1891350" y="3290408"/>
            <a:ext cx="5361300" cy="52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b="1" lang="en">
                <a:solidFill>
                  <a:srgbClr val="000000"/>
                </a:solidFill>
              </a:rPr>
              <a:t>Bharath Kumar A, Sriyavarma S, Venkata Siva Sai Krishna Prasad Y</a:t>
            </a:r>
            <a:endParaRPr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Motivation</a:t>
            </a:r>
            <a:endParaRPr b="1">
              <a:solidFill>
                <a:srgbClr val="000000"/>
              </a:solidFill>
            </a:endParaRPr>
          </a:p>
        </p:txBody>
      </p:sp>
      <p:sp>
        <p:nvSpPr>
          <p:cNvPr id="135" name="Google Shape;135;p14"/>
          <p:cNvSpPr txBox="1"/>
          <p:nvPr>
            <p:ph idx="1" type="body"/>
          </p:nvPr>
        </p:nvSpPr>
        <p:spPr>
          <a:xfrm>
            <a:off x="819150" y="1613750"/>
            <a:ext cx="7505700" cy="2448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Char char="●"/>
            </a:pPr>
            <a:r>
              <a:rPr b="1" lang="en" sz="1400">
                <a:solidFill>
                  <a:srgbClr val="000000"/>
                </a:solidFill>
              </a:rPr>
              <a:t>Traditional movie recommendations → collaborative filtering/content-based</a:t>
            </a:r>
            <a:endParaRPr b="1" sz="1400">
              <a:solidFill>
                <a:srgbClr val="000000"/>
              </a:solidFill>
            </a:endParaRPr>
          </a:p>
          <a:p>
            <a:pPr indent="-317500" lvl="0" marL="457200" rtl="0" algn="l">
              <a:spcBef>
                <a:spcPts val="0"/>
              </a:spcBef>
              <a:spcAft>
                <a:spcPts val="0"/>
              </a:spcAft>
              <a:buClr>
                <a:srgbClr val="000000"/>
              </a:buClr>
              <a:buSzPts val="1400"/>
              <a:buChar char="●"/>
            </a:pPr>
            <a:r>
              <a:rPr b="1" lang="en" sz="1400">
                <a:solidFill>
                  <a:srgbClr val="000000"/>
                </a:solidFill>
              </a:rPr>
              <a:t>Struggle with bias and lack of relationship understanding</a:t>
            </a:r>
            <a:endParaRPr b="1" sz="1400">
              <a:solidFill>
                <a:srgbClr val="000000"/>
              </a:solidFill>
            </a:endParaRPr>
          </a:p>
          <a:p>
            <a:pPr indent="-317500" lvl="0" marL="457200" rtl="0" algn="l">
              <a:spcBef>
                <a:spcPts val="0"/>
              </a:spcBef>
              <a:spcAft>
                <a:spcPts val="0"/>
              </a:spcAft>
              <a:buClr>
                <a:srgbClr val="000000"/>
              </a:buClr>
              <a:buSzPts val="1400"/>
              <a:buChar char="●"/>
            </a:pPr>
            <a:r>
              <a:rPr b="1" lang="en" sz="1400">
                <a:solidFill>
                  <a:srgbClr val="000000"/>
                </a:solidFill>
              </a:rPr>
              <a:t>Our approach involves:</a:t>
            </a:r>
            <a:endParaRPr b="1" sz="1400">
              <a:solidFill>
                <a:srgbClr val="000000"/>
              </a:solidFill>
            </a:endParaRPr>
          </a:p>
          <a:p>
            <a:pPr indent="-317500" lvl="1" marL="914400" rtl="0" algn="l">
              <a:spcBef>
                <a:spcPts val="0"/>
              </a:spcBef>
              <a:spcAft>
                <a:spcPts val="0"/>
              </a:spcAft>
              <a:buClr>
                <a:srgbClr val="000000"/>
              </a:buClr>
              <a:buSzPts val="1400"/>
              <a:buChar char="○"/>
            </a:pPr>
            <a:r>
              <a:rPr b="1" lang="en" sz="1400">
                <a:solidFill>
                  <a:srgbClr val="000000"/>
                </a:solidFill>
              </a:rPr>
              <a:t>Knowledge Graphs to capture rich relationships</a:t>
            </a:r>
            <a:endParaRPr b="1" sz="1400">
              <a:solidFill>
                <a:srgbClr val="000000"/>
              </a:solidFill>
            </a:endParaRPr>
          </a:p>
          <a:p>
            <a:pPr indent="-317500" lvl="1" marL="914400" rtl="0" algn="l">
              <a:spcBef>
                <a:spcPts val="0"/>
              </a:spcBef>
              <a:spcAft>
                <a:spcPts val="0"/>
              </a:spcAft>
              <a:buClr>
                <a:srgbClr val="000000"/>
              </a:buClr>
              <a:buSzPts val="1400"/>
              <a:buChar char="○"/>
            </a:pPr>
            <a:r>
              <a:rPr b="1" lang="en" sz="1400">
                <a:solidFill>
                  <a:srgbClr val="000000"/>
                </a:solidFill>
              </a:rPr>
              <a:t>Retrieval-Augmented Generation for better reasoning</a:t>
            </a:r>
            <a:endParaRPr b="1" sz="1400">
              <a:solidFill>
                <a:srgbClr val="000000"/>
              </a:solidFill>
            </a:endParaRPr>
          </a:p>
          <a:p>
            <a:pPr indent="-317500" lvl="0" marL="457200" rtl="0" algn="l">
              <a:spcBef>
                <a:spcPts val="0"/>
              </a:spcBef>
              <a:spcAft>
                <a:spcPts val="0"/>
              </a:spcAft>
              <a:buClr>
                <a:srgbClr val="000000"/>
              </a:buClr>
              <a:buSzPts val="1400"/>
              <a:buChar char="●"/>
            </a:pPr>
            <a:r>
              <a:rPr b="1" lang="en" sz="1400">
                <a:solidFill>
                  <a:srgbClr val="000000"/>
                </a:solidFill>
              </a:rPr>
              <a:t>Goal: Improve recommendation accuracy by leveraging KG structures</a:t>
            </a:r>
            <a:endParaRPr b="1" sz="1400">
              <a:solidFill>
                <a:srgbClr val="000000"/>
              </a:solidFill>
            </a:endParaRPr>
          </a:p>
        </p:txBody>
      </p:sp>
      <p:sp>
        <p:nvSpPr>
          <p:cNvPr id="136" name="Google Shape;136;p14"/>
          <p:cNvSpPr txBox="1"/>
          <p:nvPr>
            <p:ph idx="12" type="sldNum"/>
          </p:nvPr>
        </p:nvSpPr>
        <p:spPr>
          <a:xfrm>
            <a:off x="8390734" y="2130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Dataset</a:t>
            </a:r>
            <a:endParaRPr b="1">
              <a:solidFill>
                <a:srgbClr val="000000"/>
              </a:solidFill>
            </a:endParaRPr>
          </a:p>
        </p:txBody>
      </p:sp>
      <p:sp>
        <p:nvSpPr>
          <p:cNvPr id="142" name="Google Shape;142;p15"/>
          <p:cNvSpPr txBox="1"/>
          <p:nvPr>
            <p:ph idx="1" type="body"/>
          </p:nvPr>
        </p:nvSpPr>
        <p:spPr>
          <a:xfrm>
            <a:off x="819150" y="1587425"/>
            <a:ext cx="7605000" cy="24768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Char char="●"/>
            </a:pPr>
            <a:r>
              <a:rPr b="1" lang="en" sz="1200">
                <a:solidFill>
                  <a:srgbClr val="000000"/>
                </a:solidFill>
              </a:rPr>
              <a:t>Source: Neo4j “recommendations” dataset</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Pre-built knowledge graph</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Different types of relationships:</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(:Movie)-[:IN_GENRE]-&gt;(:Genre)</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(:User)-[:RATED]-&gt;(:Movie)</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(:Actor)-[:</a:t>
            </a:r>
            <a:r>
              <a:rPr b="1" lang="en" sz="1200">
                <a:solidFill>
                  <a:srgbClr val="000000"/>
                </a:solidFill>
              </a:rPr>
              <a:t>ACTED_IN</a:t>
            </a:r>
            <a:r>
              <a:rPr b="1" lang="en" sz="1200">
                <a:solidFill>
                  <a:srgbClr val="000000"/>
                </a:solidFill>
              </a:rPr>
              <a:t>]-&gt;(:Movie)</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(:Director)-[:DIRECTED]-&gt;(:Movie)</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(:Person)-[:ACTED_IN|DIRECTED]-&gt;(:Movie)</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(:Movie)-[:RELEASED]-&gt;(:Year)</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Total number of nodes: 28865</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Total number of relationships: 166262</a:t>
            </a:r>
            <a:endParaRPr b="1" sz="1200">
              <a:solidFill>
                <a:srgbClr val="000000"/>
              </a:solidFill>
            </a:endParaRPr>
          </a:p>
        </p:txBody>
      </p:sp>
      <p:pic>
        <p:nvPicPr>
          <p:cNvPr id="143" name="Google Shape;143;p15" title="directed.png"/>
          <p:cNvPicPr preferRelativeResize="0"/>
          <p:nvPr/>
        </p:nvPicPr>
        <p:blipFill>
          <a:blip r:embed="rId3">
            <a:alphaModFix/>
          </a:blip>
          <a:stretch>
            <a:fillRect/>
          </a:stretch>
        </p:blipFill>
        <p:spPr>
          <a:xfrm>
            <a:off x="4789798" y="941500"/>
            <a:ext cx="3878000" cy="3260500"/>
          </a:xfrm>
          <a:prstGeom prst="rect">
            <a:avLst/>
          </a:prstGeom>
          <a:noFill/>
          <a:ln>
            <a:noFill/>
          </a:ln>
        </p:spPr>
      </p:pic>
      <p:sp>
        <p:nvSpPr>
          <p:cNvPr id="144" name="Google Shape;144;p15"/>
          <p:cNvSpPr txBox="1"/>
          <p:nvPr/>
        </p:nvSpPr>
        <p:spPr>
          <a:xfrm>
            <a:off x="5043850" y="4202000"/>
            <a:ext cx="3369900" cy="2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alibri"/>
                <a:ea typeface="Calibri"/>
                <a:cs typeface="Calibri"/>
                <a:sym typeface="Calibri"/>
              </a:rPr>
              <a:t>(:Director)-[:DIRECTED]-&gt;(:Movie)</a:t>
            </a:r>
            <a:endParaRPr sz="1300">
              <a:latin typeface="Calibri"/>
              <a:ea typeface="Calibri"/>
              <a:cs typeface="Calibri"/>
              <a:sym typeface="Calibri"/>
            </a:endParaRPr>
          </a:p>
        </p:txBody>
      </p:sp>
      <p:sp>
        <p:nvSpPr>
          <p:cNvPr id="145" name="Google Shape;145;p15"/>
          <p:cNvSpPr txBox="1"/>
          <p:nvPr>
            <p:ph idx="12" type="sldNum"/>
          </p:nvPr>
        </p:nvSpPr>
        <p:spPr>
          <a:xfrm>
            <a:off x="83833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2</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9" name="Shape 149"/>
        <p:cNvGrpSpPr/>
        <p:nvPr/>
      </p:nvGrpSpPr>
      <p:grpSpPr>
        <a:xfrm>
          <a:off x="0" y="0"/>
          <a:ext cx="0" cy="0"/>
          <a:chOff x="0" y="0"/>
          <a:chExt cx="0" cy="0"/>
        </a:xfrm>
      </p:grpSpPr>
      <p:sp>
        <p:nvSpPr>
          <p:cNvPr id="150" name="Google Shape;150;p16"/>
          <p:cNvSpPr txBox="1"/>
          <p:nvPr>
            <p:ph type="title"/>
          </p:nvPr>
        </p:nvSpPr>
        <p:spPr>
          <a:xfrm>
            <a:off x="787200" y="672825"/>
            <a:ext cx="37848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Dataset</a:t>
            </a:r>
            <a:endParaRPr b="1">
              <a:solidFill>
                <a:srgbClr val="000000"/>
              </a:solidFill>
            </a:endParaRPr>
          </a:p>
        </p:txBody>
      </p:sp>
      <p:pic>
        <p:nvPicPr>
          <p:cNvPr id="151" name="Google Shape;151;p16" title="acted.png"/>
          <p:cNvPicPr preferRelativeResize="0"/>
          <p:nvPr/>
        </p:nvPicPr>
        <p:blipFill>
          <a:blip r:embed="rId3">
            <a:alphaModFix/>
          </a:blip>
          <a:stretch>
            <a:fillRect/>
          </a:stretch>
        </p:blipFill>
        <p:spPr>
          <a:xfrm>
            <a:off x="625375" y="1475025"/>
            <a:ext cx="2812353" cy="3038500"/>
          </a:xfrm>
          <a:prstGeom prst="rect">
            <a:avLst/>
          </a:prstGeom>
          <a:noFill/>
          <a:ln>
            <a:noFill/>
          </a:ln>
        </p:spPr>
      </p:pic>
      <p:pic>
        <p:nvPicPr>
          <p:cNvPr id="152" name="Google Shape;152;p16" title="big_acted.png"/>
          <p:cNvPicPr preferRelativeResize="0"/>
          <p:nvPr/>
        </p:nvPicPr>
        <p:blipFill>
          <a:blip r:embed="rId4">
            <a:alphaModFix/>
          </a:blip>
          <a:stretch>
            <a:fillRect/>
          </a:stretch>
        </p:blipFill>
        <p:spPr>
          <a:xfrm>
            <a:off x="3768950" y="319300"/>
            <a:ext cx="5040026" cy="4194225"/>
          </a:xfrm>
          <a:prstGeom prst="rect">
            <a:avLst/>
          </a:prstGeom>
          <a:noFill/>
          <a:ln>
            <a:noFill/>
          </a:ln>
        </p:spPr>
      </p:pic>
      <p:sp>
        <p:nvSpPr>
          <p:cNvPr id="153" name="Google Shape;153;p16"/>
          <p:cNvSpPr txBox="1"/>
          <p:nvPr/>
        </p:nvSpPr>
        <p:spPr>
          <a:xfrm>
            <a:off x="714075" y="4568700"/>
            <a:ext cx="3369900" cy="2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alibri"/>
                <a:ea typeface="Calibri"/>
                <a:cs typeface="Calibri"/>
                <a:sym typeface="Calibri"/>
              </a:rPr>
              <a:t>(:Actor)-[:ACTED_IN]-&gt;(:Movie)</a:t>
            </a:r>
            <a:endParaRPr sz="1300">
              <a:latin typeface="Calibri"/>
              <a:ea typeface="Calibri"/>
              <a:cs typeface="Calibri"/>
              <a:sym typeface="Calibri"/>
            </a:endParaRPr>
          </a:p>
        </p:txBody>
      </p:sp>
      <p:sp>
        <p:nvSpPr>
          <p:cNvPr id="154" name="Google Shape;154;p16"/>
          <p:cNvSpPr txBox="1"/>
          <p:nvPr/>
        </p:nvSpPr>
        <p:spPr>
          <a:xfrm>
            <a:off x="4727475" y="4568700"/>
            <a:ext cx="3369900" cy="2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alibri"/>
                <a:ea typeface="Calibri"/>
                <a:cs typeface="Calibri"/>
                <a:sym typeface="Calibri"/>
              </a:rPr>
              <a:t>(:Actor)-[:ACTED_IN]-&gt;(:Movie)</a:t>
            </a:r>
            <a:endParaRPr sz="1300">
              <a:latin typeface="Calibri"/>
              <a:ea typeface="Calibri"/>
              <a:cs typeface="Calibri"/>
              <a:sym typeface="Calibri"/>
            </a:endParaRPr>
          </a:p>
        </p:txBody>
      </p:sp>
      <p:sp>
        <p:nvSpPr>
          <p:cNvPr id="155" name="Google Shape;155;p16"/>
          <p:cNvSpPr txBox="1"/>
          <p:nvPr>
            <p:ph idx="12" type="sldNum"/>
          </p:nvPr>
        </p:nvSpPr>
        <p:spPr>
          <a:xfrm>
            <a:off x="83907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3</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59" name="Shape 159"/>
        <p:cNvGrpSpPr/>
        <p:nvPr/>
      </p:nvGrpSpPr>
      <p:grpSpPr>
        <a:xfrm>
          <a:off x="0" y="0"/>
          <a:ext cx="0" cy="0"/>
          <a:chOff x="0" y="0"/>
          <a:chExt cx="0" cy="0"/>
        </a:xfrm>
      </p:grpSpPr>
      <p:sp>
        <p:nvSpPr>
          <p:cNvPr id="160" name="Google Shape;160;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33">
                <a:solidFill>
                  <a:srgbClr val="000000"/>
                </a:solidFill>
              </a:rPr>
              <a:t>Approach: FAISS + RAG Chain</a:t>
            </a:r>
            <a:endParaRPr>
              <a:solidFill>
                <a:schemeClr val="lt1"/>
              </a:solidFill>
            </a:endParaRPr>
          </a:p>
        </p:txBody>
      </p:sp>
      <p:sp>
        <p:nvSpPr>
          <p:cNvPr id="161" name="Google Shape;161;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Char char="●"/>
            </a:pPr>
            <a:r>
              <a:rPr b="1" lang="en" sz="1200">
                <a:solidFill>
                  <a:srgbClr val="000000"/>
                </a:solidFill>
              </a:rPr>
              <a:t>FAISS</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Facebook AI Similarity Search</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Vector indexing: Finds vectors that are similar to a given vector</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Supports CPU and GPU</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RAG Chain</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Retrieval Augmented Generation Chain </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A pipeline used to combine retrieval based and generation based models to improve the performance of language tasks</a:t>
            </a:r>
            <a:endParaRPr b="1" sz="1200">
              <a:solidFill>
                <a:srgbClr val="000000"/>
              </a:solidFill>
            </a:endParaRPr>
          </a:p>
        </p:txBody>
      </p:sp>
      <p:sp>
        <p:nvSpPr>
          <p:cNvPr id="162" name="Google Shape;162;p17"/>
          <p:cNvSpPr txBox="1"/>
          <p:nvPr>
            <p:ph idx="12" type="sldNum"/>
          </p:nvPr>
        </p:nvSpPr>
        <p:spPr>
          <a:xfrm>
            <a:off x="8383334" y="2204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4</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819150" y="3984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solidFill>
                  <a:srgbClr val="000000"/>
                </a:solidFill>
              </a:rPr>
              <a:t>Architecture</a:t>
            </a:r>
            <a:endParaRPr b="1" sz="3300">
              <a:solidFill>
                <a:srgbClr val="000000"/>
              </a:solidFill>
            </a:endParaRPr>
          </a:p>
        </p:txBody>
      </p:sp>
      <p:sp>
        <p:nvSpPr>
          <p:cNvPr id="168" name="Google Shape;168;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9" name="Google Shape;169;p18"/>
          <p:cNvSpPr txBox="1"/>
          <p:nvPr/>
        </p:nvSpPr>
        <p:spPr>
          <a:xfrm>
            <a:off x="902050" y="2521500"/>
            <a:ext cx="1227300" cy="7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latin typeface="Calibri"/>
              <a:ea typeface="Calibri"/>
              <a:cs typeface="Calibri"/>
              <a:sym typeface="Calibri"/>
            </a:endParaRPr>
          </a:p>
        </p:txBody>
      </p:sp>
      <p:sp>
        <p:nvSpPr>
          <p:cNvPr id="170" name="Google Shape;170;p18"/>
          <p:cNvSpPr/>
          <p:nvPr/>
        </p:nvSpPr>
        <p:spPr>
          <a:xfrm>
            <a:off x="860950" y="2915050"/>
            <a:ext cx="1227300" cy="77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Calibri"/>
              <a:ea typeface="Calibri"/>
              <a:cs typeface="Calibri"/>
              <a:sym typeface="Calibri"/>
            </a:endParaRPr>
          </a:p>
        </p:txBody>
      </p:sp>
      <p:sp>
        <p:nvSpPr>
          <p:cNvPr id="171" name="Google Shape;171;p18"/>
          <p:cNvSpPr txBox="1"/>
          <p:nvPr/>
        </p:nvSpPr>
        <p:spPr>
          <a:xfrm>
            <a:off x="819150" y="2869975"/>
            <a:ext cx="1553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alibri"/>
                <a:ea typeface="Calibri"/>
                <a:cs typeface="Calibri"/>
                <a:sym typeface="Calibri"/>
              </a:rPr>
              <a:t>{'movie': 'Toy Story', released: 1995}</a:t>
            </a:r>
            <a:endParaRPr sz="1300">
              <a:latin typeface="Calibri"/>
              <a:ea typeface="Calibri"/>
              <a:cs typeface="Calibri"/>
              <a:sym typeface="Calibri"/>
            </a:endParaRPr>
          </a:p>
        </p:txBody>
      </p:sp>
      <p:sp>
        <p:nvSpPr>
          <p:cNvPr id="172" name="Google Shape;172;p18"/>
          <p:cNvSpPr/>
          <p:nvPr/>
        </p:nvSpPr>
        <p:spPr>
          <a:xfrm>
            <a:off x="5122250" y="3765450"/>
            <a:ext cx="613800" cy="29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latin typeface="Calibri"/>
              <a:ea typeface="Calibri"/>
              <a:cs typeface="Calibri"/>
              <a:sym typeface="Calibri"/>
            </a:endParaRPr>
          </a:p>
        </p:txBody>
      </p:sp>
      <p:sp>
        <p:nvSpPr>
          <p:cNvPr id="173" name="Google Shape;173;p18"/>
          <p:cNvSpPr txBox="1"/>
          <p:nvPr/>
        </p:nvSpPr>
        <p:spPr>
          <a:xfrm>
            <a:off x="5052350" y="3765450"/>
            <a:ext cx="683700" cy="2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Calibri"/>
                <a:ea typeface="Calibri"/>
                <a:cs typeface="Calibri"/>
                <a:sym typeface="Calibri"/>
              </a:rPr>
              <a:t>Query</a:t>
            </a:r>
            <a:endParaRPr sz="1300">
              <a:latin typeface="Calibri"/>
              <a:ea typeface="Calibri"/>
              <a:cs typeface="Calibri"/>
              <a:sym typeface="Calibri"/>
            </a:endParaRPr>
          </a:p>
        </p:txBody>
      </p:sp>
      <p:sp>
        <p:nvSpPr>
          <p:cNvPr id="174" name="Google Shape;174;p18"/>
          <p:cNvSpPr txBox="1"/>
          <p:nvPr/>
        </p:nvSpPr>
        <p:spPr>
          <a:xfrm>
            <a:off x="1656025" y="1276575"/>
            <a:ext cx="5049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175" name="Google Shape;175;p18"/>
          <p:cNvSpPr/>
          <p:nvPr/>
        </p:nvSpPr>
        <p:spPr>
          <a:xfrm>
            <a:off x="7412250" y="2956050"/>
            <a:ext cx="561600" cy="177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Groq</a:t>
            </a:r>
            <a:endParaRPr>
              <a:latin typeface="Calibri"/>
              <a:ea typeface="Calibri"/>
              <a:cs typeface="Calibri"/>
              <a:sym typeface="Calibri"/>
            </a:endParaRPr>
          </a:p>
        </p:txBody>
      </p:sp>
      <p:sp>
        <p:nvSpPr>
          <p:cNvPr id="176" name="Google Shape;176;p18"/>
          <p:cNvSpPr txBox="1"/>
          <p:nvPr>
            <p:ph idx="12" type="sldNum"/>
          </p:nvPr>
        </p:nvSpPr>
        <p:spPr>
          <a:xfrm>
            <a:off x="8390734" y="2130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5</a:t>
            </a:r>
            <a:endParaRPr b="1"/>
          </a:p>
        </p:txBody>
      </p:sp>
      <p:pic>
        <p:nvPicPr>
          <p:cNvPr id="177" name="Google Shape;177;p18"/>
          <p:cNvPicPr preferRelativeResize="0"/>
          <p:nvPr/>
        </p:nvPicPr>
        <p:blipFill rotWithShape="1">
          <a:blip r:embed="rId3">
            <a:alphaModFix/>
          </a:blip>
          <a:srcRect b="10375" l="0" r="0" t="3596"/>
          <a:stretch/>
        </p:blipFill>
        <p:spPr>
          <a:xfrm>
            <a:off x="426500" y="1068200"/>
            <a:ext cx="8291002" cy="3496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81" name="Shape 181"/>
        <p:cNvGrpSpPr/>
        <p:nvPr/>
      </p:nvGrpSpPr>
      <p:grpSpPr>
        <a:xfrm>
          <a:off x="0" y="0"/>
          <a:ext cx="0" cy="0"/>
          <a:chOff x="0" y="0"/>
          <a:chExt cx="0" cy="0"/>
        </a:xfrm>
      </p:grpSpPr>
      <p:sp>
        <p:nvSpPr>
          <p:cNvPr id="182" name="Google Shape;182;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First Step: Building Knowledge Triplets</a:t>
            </a:r>
            <a:endParaRPr b="1">
              <a:solidFill>
                <a:srgbClr val="000000"/>
              </a:solidFill>
            </a:endParaRPr>
          </a:p>
        </p:txBody>
      </p:sp>
      <p:sp>
        <p:nvSpPr>
          <p:cNvPr id="183" name="Google Shape;183;p19"/>
          <p:cNvSpPr txBox="1"/>
          <p:nvPr>
            <p:ph idx="1" type="body"/>
          </p:nvPr>
        </p:nvSpPr>
        <p:spPr>
          <a:xfrm>
            <a:off x="819150" y="1604975"/>
            <a:ext cx="7505700" cy="17796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Clr>
                <a:srgbClr val="000000"/>
              </a:buClr>
              <a:buSzPts val="1300"/>
              <a:buChar char="●"/>
            </a:pPr>
            <a:r>
              <a:rPr b="1" lang="en">
                <a:solidFill>
                  <a:srgbClr val="000000"/>
                </a:solidFill>
              </a:rPr>
              <a:t>Extract (subject, predicate, object) triplets from Neo4j graph</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{'movie': 'Toy Story', released: 1995}</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('Toy Story', 'was released in year', '1995')</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Total Triplets Created: 229,894</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Convert triplets into human-readable sentences:</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Toy Story was released in year 1995</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Total Sentences: 229,894</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Having a proper readable triplet allows for the </a:t>
            </a:r>
            <a:r>
              <a:rPr b="1" lang="en">
                <a:solidFill>
                  <a:srgbClr val="000000"/>
                </a:solidFill>
              </a:rPr>
              <a:t>retriever</a:t>
            </a:r>
            <a:r>
              <a:rPr b="1" lang="en">
                <a:solidFill>
                  <a:srgbClr val="000000"/>
                </a:solidFill>
              </a:rPr>
              <a:t> to understand </a:t>
            </a:r>
            <a:r>
              <a:rPr b="1" lang="en">
                <a:solidFill>
                  <a:srgbClr val="000000"/>
                </a:solidFill>
              </a:rPr>
              <a:t>reason over the information</a:t>
            </a:r>
            <a:endParaRPr b="1">
              <a:solidFill>
                <a:srgbClr val="000000"/>
              </a:solidFill>
            </a:endParaRPr>
          </a:p>
        </p:txBody>
      </p:sp>
      <p:sp>
        <p:nvSpPr>
          <p:cNvPr id="184" name="Google Shape;184;p19"/>
          <p:cNvSpPr/>
          <p:nvPr/>
        </p:nvSpPr>
        <p:spPr>
          <a:xfrm>
            <a:off x="932375" y="3648525"/>
            <a:ext cx="1374600" cy="7464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latin typeface="Calibri"/>
                <a:ea typeface="Calibri"/>
                <a:cs typeface="Calibri"/>
                <a:sym typeface="Calibri"/>
              </a:rPr>
              <a:t>(subject, predicate, object)</a:t>
            </a:r>
            <a:endParaRPr sz="1300">
              <a:latin typeface="Calibri"/>
              <a:ea typeface="Calibri"/>
              <a:cs typeface="Calibri"/>
              <a:sym typeface="Calibri"/>
            </a:endParaRPr>
          </a:p>
        </p:txBody>
      </p:sp>
      <p:cxnSp>
        <p:nvCxnSpPr>
          <p:cNvPr id="185" name="Google Shape;185;p19"/>
          <p:cNvCxnSpPr>
            <a:stCxn id="184" idx="6"/>
            <a:endCxn id="186" idx="1"/>
          </p:cNvCxnSpPr>
          <p:nvPr/>
        </p:nvCxnSpPr>
        <p:spPr>
          <a:xfrm flipH="1" rot="10800000">
            <a:off x="2306975" y="4016325"/>
            <a:ext cx="820200" cy="5400"/>
          </a:xfrm>
          <a:prstGeom prst="straightConnector1">
            <a:avLst/>
          </a:prstGeom>
          <a:noFill/>
          <a:ln cap="flat" cmpd="sng" w="9525">
            <a:solidFill>
              <a:srgbClr val="000000"/>
            </a:solidFill>
            <a:prstDash val="solid"/>
            <a:round/>
            <a:headEnd len="med" w="med" type="none"/>
            <a:tailEnd len="med" w="med" type="triangle"/>
          </a:ln>
        </p:spPr>
      </p:cxnSp>
      <p:sp>
        <p:nvSpPr>
          <p:cNvPr id="186" name="Google Shape;186;p19"/>
          <p:cNvSpPr/>
          <p:nvPr/>
        </p:nvSpPr>
        <p:spPr>
          <a:xfrm>
            <a:off x="3127225" y="3820275"/>
            <a:ext cx="2150400" cy="391800"/>
          </a:xfrm>
          <a:prstGeom prst="flowChartAlternateProcess">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(‘Toy Story’, ‘was released in year’, ‘1995’)</a:t>
            </a:r>
            <a:endParaRPr>
              <a:latin typeface="Calibri"/>
              <a:ea typeface="Calibri"/>
              <a:cs typeface="Calibri"/>
              <a:sym typeface="Calibri"/>
            </a:endParaRPr>
          </a:p>
        </p:txBody>
      </p:sp>
      <p:cxnSp>
        <p:nvCxnSpPr>
          <p:cNvPr id="187" name="Google Shape;187;p19"/>
          <p:cNvCxnSpPr>
            <a:stCxn id="186" idx="3"/>
            <a:endCxn id="188" idx="1"/>
          </p:cNvCxnSpPr>
          <p:nvPr/>
        </p:nvCxnSpPr>
        <p:spPr>
          <a:xfrm>
            <a:off x="5277625" y="4016175"/>
            <a:ext cx="709500" cy="0"/>
          </a:xfrm>
          <a:prstGeom prst="straightConnector1">
            <a:avLst/>
          </a:prstGeom>
          <a:noFill/>
          <a:ln cap="flat" cmpd="sng" w="9525">
            <a:solidFill>
              <a:srgbClr val="000000"/>
            </a:solidFill>
            <a:prstDash val="solid"/>
            <a:round/>
            <a:headEnd len="med" w="med" type="none"/>
            <a:tailEnd len="med" w="med" type="triangle"/>
          </a:ln>
        </p:spPr>
      </p:cxnSp>
      <p:sp>
        <p:nvSpPr>
          <p:cNvPr id="188" name="Google Shape;188;p19"/>
          <p:cNvSpPr/>
          <p:nvPr/>
        </p:nvSpPr>
        <p:spPr>
          <a:xfrm>
            <a:off x="5987125" y="3820275"/>
            <a:ext cx="2224500" cy="391800"/>
          </a:xfrm>
          <a:prstGeom prst="flowChartAlternateProcess">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Toy Story was released in year 1995</a:t>
            </a:r>
            <a:endParaRPr>
              <a:latin typeface="Calibri"/>
              <a:ea typeface="Calibri"/>
              <a:cs typeface="Calibri"/>
              <a:sym typeface="Calibri"/>
            </a:endParaRPr>
          </a:p>
        </p:txBody>
      </p:sp>
      <p:sp>
        <p:nvSpPr>
          <p:cNvPr id="189" name="Google Shape;189;p19"/>
          <p:cNvSpPr txBox="1"/>
          <p:nvPr/>
        </p:nvSpPr>
        <p:spPr>
          <a:xfrm>
            <a:off x="3249175" y="4456200"/>
            <a:ext cx="1906500" cy="35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alibri"/>
                <a:ea typeface="Calibri"/>
                <a:cs typeface="Calibri"/>
                <a:sym typeface="Calibri"/>
              </a:rPr>
              <a:t>Total Sentences: 229,894</a:t>
            </a:r>
            <a:endParaRPr sz="1300">
              <a:latin typeface="Calibri"/>
              <a:ea typeface="Calibri"/>
              <a:cs typeface="Calibri"/>
              <a:sym typeface="Calibri"/>
            </a:endParaRPr>
          </a:p>
        </p:txBody>
      </p:sp>
      <p:sp>
        <p:nvSpPr>
          <p:cNvPr id="190" name="Google Shape;190;p19"/>
          <p:cNvSpPr txBox="1"/>
          <p:nvPr/>
        </p:nvSpPr>
        <p:spPr>
          <a:xfrm>
            <a:off x="3391375" y="3425025"/>
            <a:ext cx="16221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alibri"/>
                <a:ea typeface="Calibri"/>
                <a:cs typeface="Calibri"/>
                <a:sym typeface="Calibri"/>
              </a:rPr>
              <a:t>Neo4j Graph</a:t>
            </a:r>
            <a:endParaRPr sz="1300">
              <a:latin typeface="Calibri"/>
              <a:ea typeface="Calibri"/>
              <a:cs typeface="Calibri"/>
              <a:sym typeface="Calibri"/>
            </a:endParaRPr>
          </a:p>
        </p:txBody>
      </p:sp>
      <p:sp>
        <p:nvSpPr>
          <p:cNvPr id="191" name="Google Shape;191;p19"/>
          <p:cNvSpPr txBox="1"/>
          <p:nvPr>
            <p:ph idx="12" type="sldNum"/>
          </p:nvPr>
        </p:nvSpPr>
        <p:spPr>
          <a:xfrm>
            <a:off x="8390734" y="2130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6</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95" name="Shape 195"/>
        <p:cNvGrpSpPr/>
        <p:nvPr/>
      </p:nvGrpSpPr>
      <p:grpSpPr>
        <a:xfrm>
          <a:off x="0" y="0"/>
          <a:ext cx="0" cy="0"/>
          <a:chOff x="0" y="0"/>
          <a:chExt cx="0" cy="0"/>
        </a:xfrm>
      </p:grpSpPr>
      <p:sp>
        <p:nvSpPr>
          <p:cNvPr id="196" name="Google Shape;196;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Second Step</a:t>
            </a:r>
            <a:r>
              <a:rPr b="1" lang="en">
                <a:solidFill>
                  <a:srgbClr val="000000"/>
                </a:solidFill>
              </a:rPr>
              <a:t>: </a:t>
            </a:r>
            <a:r>
              <a:rPr b="1" lang="en">
                <a:solidFill>
                  <a:srgbClr val="000000"/>
                </a:solidFill>
              </a:rPr>
              <a:t>Embedding Creation</a:t>
            </a:r>
            <a:endParaRPr b="1">
              <a:solidFill>
                <a:srgbClr val="000000"/>
              </a:solidFill>
            </a:endParaRPr>
          </a:p>
        </p:txBody>
      </p:sp>
      <p:sp>
        <p:nvSpPr>
          <p:cNvPr id="197" name="Google Shape;197;p20"/>
          <p:cNvSpPr txBox="1"/>
          <p:nvPr>
            <p:ph idx="1" type="body"/>
          </p:nvPr>
        </p:nvSpPr>
        <p:spPr>
          <a:xfrm>
            <a:off x="819150" y="1990725"/>
            <a:ext cx="33924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Char char="●"/>
            </a:pPr>
            <a:r>
              <a:rPr b="1" lang="en">
                <a:solidFill>
                  <a:srgbClr val="000000"/>
                </a:solidFill>
              </a:rPr>
              <a:t>Encode the readable triplet sentences into vector embeddings</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Create an embedding model using HuggingFaceEmbeddings method</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Each sentence → dense 384-dimensional vector</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Embeddings captures semantic meaning</a:t>
            </a:r>
            <a:endParaRPr b="1">
              <a:solidFill>
                <a:srgbClr val="000000"/>
              </a:solidFill>
            </a:endParaRPr>
          </a:p>
        </p:txBody>
      </p:sp>
      <p:pic>
        <p:nvPicPr>
          <p:cNvPr id="198" name="Google Shape;198;p20"/>
          <p:cNvPicPr preferRelativeResize="0"/>
          <p:nvPr/>
        </p:nvPicPr>
        <p:blipFill>
          <a:blip r:embed="rId3">
            <a:alphaModFix/>
          </a:blip>
          <a:stretch>
            <a:fillRect/>
          </a:stretch>
        </p:blipFill>
        <p:spPr>
          <a:xfrm>
            <a:off x="4572000" y="1800200"/>
            <a:ext cx="4024074" cy="2280225"/>
          </a:xfrm>
          <a:prstGeom prst="rect">
            <a:avLst/>
          </a:prstGeom>
          <a:noFill/>
          <a:ln>
            <a:noFill/>
          </a:ln>
        </p:spPr>
      </p:pic>
      <p:pic>
        <p:nvPicPr>
          <p:cNvPr id="199" name="Google Shape;199;p20"/>
          <p:cNvPicPr preferRelativeResize="0"/>
          <p:nvPr/>
        </p:nvPicPr>
        <p:blipFill>
          <a:blip r:embed="rId4">
            <a:alphaModFix/>
          </a:blip>
          <a:stretch>
            <a:fillRect/>
          </a:stretch>
        </p:blipFill>
        <p:spPr>
          <a:xfrm>
            <a:off x="4211600" y="4183146"/>
            <a:ext cx="4572000" cy="608450"/>
          </a:xfrm>
          <a:prstGeom prst="rect">
            <a:avLst/>
          </a:prstGeom>
          <a:noFill/>
          <a:ln>
            <a:noFill/>
          </a:ln>
        </p:spPr>
      </p:pic>
      <p:sp>
        <p:nvSpPr>
          <p:cNvPr id="200" name="Google Shape;200;p20"/>
          <p:cNvSpPr txBox="1"/>
          <p:nvPr>
            <p:ph idx="12" type="sldNum"/>
          </p:nvPr>
        </p:nvSpPr>
        <p:spPr>
          <a:xfrm>
            <a:off x="8383334" y="2204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7</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04" name="Shape 204"/>
        <p:cNvGrpSpPr/>
        <p:nvPr/>
      </p:nvGrpSpPr>
      <p:grpSpPr>
        <a:xfrm>
          <a:off x="0" y="0"/>
          <a:ext cx="0" cy="0"/>
          <a:chOff x="0" y="0"/>
          <a:chExt cx="0" cy="0"/>
        </a:xfrm>
      </p:grpSpPr>
      <p:sp>
        <p:nvSpPr>
          <p:cNvPr id="205" name="Google Shape;205;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Third Step</a:t>
            </a:r>
            <a:r>
              <a:rPr b="1" lang="en">
                <a:solidFill>
                  <a:srgbClr val="000000"/>
                </a:solidFill>
              </a:rPr>
              <a:t>: </a:t>
            </a:r>
            <a:r>
              <a:rPr b="1" lang="en">
                <a:solidFill>
                  <a:srgbClr val="000000"/>
                </a:solidFill>
              </a:rPr>
              <a:t>FAISS Index Construction</a:t>
            </a:r>
            <a:endParaRPr b="1">
              <a:solidFill>
                <a:srgbClr val="000000"/>
              </a:solidFill>
            </a:endParaRPr>
          </a:p>
        </p:txBody>
      </p:sp>
      <p:sp>
        <p:nvSpPr>
          <p:cNvPr id="206" name="Google Shape;206;p21"/>
          <p:cNvSpPr txBox="1"/>
          <p:nvPr>
            <p:ph idx="1" type="body"/>
          </p:nvPr>
        </p:nvSpPr>
        <p:spPr>
          <a:xfrm>
            <a:off x="284375" y="1508525"/>
            <a:ext cx="36744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Char char="●"/>
            </a:pPr>
            <a:r>
              <a:rPr b="1" lang="en">
                <a:solidFill>
                  <a:srgbClr val="000000"/>
                </a:solidFill>
              </a:rPr>
              <a:t>FAISS (Facebook AI Similarity Search) for fast vector retrieval</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Steps:</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Store triplet embeddings into FAISS index</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Index allows quick similarity search</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Retriever function created to find top-k matching triplets for a query</a:t>
            </a:r>
            <a:endParaRPr b="1">
              <a:solidFill>
                <a:srgbClr val="000000"/>
              </a:solidFill>
            </a:endParaRPr>
          </a:p>
          <a:p>
            <a:pPr indent="0" lvl="0" marL="0" rtl="0" algn="l">
              <a:spcBef>
                <a:spcPts val="1200"/>
              </a:spcBef>
              <a:spcAft>
                <a:spcPts val="0"/>
              </a:spcAft>
              <a:buNone/>
            </a:pPr>
            <a:r>
              <a:t/>
            </a:r>
            <a:endParaRPr b="1">
              <a:solidFill>
                <a:srgbClr val="000000"/>
              </a:solidFill>
            </a:endParaRPr>
          </a:p>
          <a:p>
            <a:pPr indent="0" lvl="0" marL="0" rtl="0" algn="l">
              <a:spcBef>
                <a:spcPts val="1200"/>
              </a:spcBef>
              <a:spcAft>
                <a:spcPts val="1200"/>
              </a:spcAft>
              <a:buNone/>
            </a:pPr>
            <a:r>
              <a:t/>
            </a:r>
            <a:endParaRPr b="1">
              <a:solidFill>
                <a:srgbClr val="000000"/>
              </a:solidFill>
            </a:endParaRPr>
          </a:p>
        </p:txBody>
      </p:sp>
      <p:pic>
        <p:nvPicPr>
          <p:cNvPr id="207" name="Google Shape;207;p21"/>
          <p:cNvPicPr preferRelativeResize="0"/>
          <p:nvPr/>
        </p:nvPicPr>
        <p:blipFill>
          <a:blip r:embed="rId3">
            <a:alphaModFix/>
          </a:blip>
          <a:stretch>
            <a:fillRect/>
          </a:stretch>
        </p:blipFill>
        <p:spPr>
          <a:xfrm>
            <a:off x="4191700" y="1549700"/>
            <a:ext cx="4093651" cy="2729101"/>
          </a:xfrm>
          <a:prstGeom prst="rect">
            <a:avLst/>
          </a:prstGeom>
          <a:noFill/>
          <a:ln>
            <a:noFill/>
          </a:ln>
        </p:spPr>
      </p:pic>
      <p:pic>
        <p:nvPicPr>
          <p:cNvPr id="208" name="Google Shape;208;p21"/>
          <p:cNvPicPr preferRelativeResize="0"/>
          <p:nvPr/>
        </p:nvPicPr>
        <p:blipFill>
          <a:blip r:embed="rId4">
            <a:alphaModFix/>
          </a:blip>
          <a:stretch>
            <a:fillRect/>
          </a:stretch>
        </p:blipFill>
        <p:spPr>
          <a:xfrm>
            <a:off x="3958900" y="3669725"/>
            <a:ext cx="4821575" cy="860375"/>
          </a:xfrm>
          <a:prstGeom prst="rect">
            <a:avLst/>
          </a:prstGeom>
          <a:noFill/>
          <a:ln>
            <a:noFill/>
          </a:ln>
        </p:spPr>
      </p:pic>
      <p:sp>
        <p:nvSpPr>
          <p:cNvPr id="209" name="Google Shape;209;p21"/>
          <p:cNvSpPr txBox="1"/>
          <p:nvPr>
            <p:ph idx="12" type="sldNum"/>
          </p:nvPr>
        </p:nvSpPr>
        <p:spPr>
          <a:xfrm>
            <a:off x="8398109" y="2130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8</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13" name="Shape 213"/>
        <p:cNvGrpSpPr/>
        <p:nvPr/>
      </p:nvGrpSpPr>
      <p:grpSpPr>
        <a:xfrm>
          <a:off x="0" y="0"/>
          <a:ext cx="0" cy="0"/>
          <a:chOff x="0" y="0"/>
          <a:chExt cx="0" cy="0"/>
        </a:xfrm>
      </p:grpSpPr>
      <p:sp>
        <p:nvSpPr>
          <p:cNvPr id="214" name="Google Shape;214;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Step</a:t>
            </a:r>
            <a:r>
              <a:rPr b="1" lang="en">
                <a:solidFill>
                  <a:srgbClr val="000000"/>
                </a:solidFill>
              </a:rPr>
              <a:t> Four: </a:t>
            </a:r>
            <a:r>
              <a:rPr b="1" lang="en">
                <a:solidFill>
                  <a:srgbClr val="000000"/>
                </a:solidFill>
              </a:rPr>
              <a:t>Retrieval with Re-ranking</a:t>
            </a:r>
            <a:endParaRPr b="1">
              <a:solidFill>
                <a:srgbClr val="000000"/>
              </a:solidFill>
            </a:endParaRPr>
          </a:p>
        </p:txBody>
      </p:sp>
      <p:sp>
        <p:nvSpPr>
          <p:cNvPr id="215" name="Google Shape;215;p22"/>
          <p:cNvSpPr txBox="1"/>
          <p:nvPr>
            <p:ph idx="1" type="body"/>
          </p:nvPr>
        </p:nvSpPr>
        <p:spPr>
          <a:xfrm>
            <a:off x="94850" y="1478000"/>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Char char="●"/>
            </a:pPr>
            <a:r>
              <a:rPr b="1" lang="en">
                <a:solidFill>
                  <a:srgbClr val="000000"/>
                </a:solidFill>
              </a:rPr>
              <a:t>Initial retrieval from FAISS based on L2 distance</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Re-ranking using cosine similarity (better matching)</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Returns most relevant triplet sentences</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Improves quality of context fed to LLM</a:t>
            </a:r>
            <a:endParaRPr b="1">
              <a:solidFill>
                <a:srgbClr val="000000"/>
              </a:solidFill>
            </a:endParaRPr>
          </a:p>
          <a:p>
            <a:pPr indent="0" lvl="0" marL="0" rtl="0" algn="l">
              <a:spcBef>
                <a:spcPts val="1200"/>
              </a:spcBef>
              <a:spcAft>
                <a:spcPts val="1200"/>
              </a:spcAft>
              <a:buNone/>
            </a:pPr>
            <a:r>
              <a:t/>
            </a:r>
            <a:endParaRPr b="1">
              <a:solidFill>
                <a:srgbClr val="000000"/>
              </a:solidFill>
            </a:endParaRPr>
          </a:p>
        </p:txBody>
      </p:sp>
      <p:pic>
        <p:nvPicPr>
          <p:cNvPr id="216" name="Google Shape;216;p22"/>
          <p:cNvPicPr preferRelativeResize="0"/>
          <p:nvPr/>
        </p:nvPicPr>
        <p:blipFill rotWithShape="1">
          <a:blip r:embed="rId3">
            <a:alphaModFix/>
          </a:blip>
          <a:srcRect b="39962" l="0" r="-2606" t="23726"/>
          <a:stretch/>
        </p:blipFill>
        <p:spPr>
          <a:xfrm>
            <a:off x="330850" y="3043075"/>
            <a:ext cx="3888476" cy="1376151"/>
          </a:xfrm>
          <a:prstGeom prst="rect">
            <a:avLst/>
          </a:prstGeom>
          <a:noFill/>
          <a:ln>
            <a:noFill/>
          </a:ln>
        </p:spPr>
      </p:pic>
      <p:pic>
        <p:nvPicPr>
          <p:cNvPr id="217" name="Google Shape;217;p22"/>
          <p:cNvPicPr preferRelativeResize="0"/>
          <p:nvPr/>
        </p:nvPicPr>
        <p:blipFill>
          <a:blip r:embed="rId4">
            <a:alphaModFix/>
          </a:blip>
          <a:stretch>
            <a:fillRect/>
          </a:stretch>
        </p:blipFill>
        <p:spPr>
          <a:xfrm>
            <a:off x="4219325" y="1529325"/>
            <a:ext cx="4687751" cy="3392201"/>
          </a:xfrm>
          <a:prstGeom prst="rect">
            <a:avLst/>
          </a:prstGeom>
          <a:noFill/>
          <a:ln>
            <a:noFill/>
          </a:ln>
        </p:spPr>
      </p:pic>
      <p:sp>
        <p:nvSpPr>
          <p:cNvPr id="218" name="Google Shape;218;p22"/>
          <p:cNvSpPr txBox="1"/>
          <p:nvPr>
            <p:ph idx="12" type="sldNum"/>
          </p:nvPr>
        </p:nvSpPr>
        <p:spPr>
          <a:xfrm>
            <a:off x="8398109"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9</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22" name="Shape 222"/>
        <p:cNvGrpSpPr/>
        <p:nvPr/>
      </p:nvGrpSpPr>
      <p:grpSpPr>
        <a:xfrm>
          <a:off x="0" y="0"/>
          <a:ext cx="0" cy="0"/>
          <a:chOff x="0" y="0"/>
          <a:chExt cx="0" cy="0"/>
        </a:xfrm>
      </p:grpSpPr>
      <p:sp>
        <p:nvSpPr>
          <p:cNvPr id="223" name="Google Shape;223;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Step Five: </a:t>
            </a:r>
            <a:r>
              <a:rPr b="1" lang="en">
                <a:solidFill>
                  <a:srgbClr val="000000"/>
                </a:solidFill>
              </a:rPr>
              <a:t>RAG Chain for Final Answer</a:t>
            </a:r>
            <a:endParaRPr b="1">
              <a:solidFill>
                <a:srgbClr val="000000"/>
              </a:solidFill>
            </a:endParaRPr>
          </a:p>
        </p:txBody>
      </p:sp>
      <p:sp>
        <p:nvSpPr>
          <p:cNvPr id="224" name="Google Shape;224;p23"/>
          <p:cNvSpPr txBox="1"/>
          <p:nvPr>
            <p:ph idx="1" type="body"/>
          </p:nvPr>
        </p:nvSpPr>
        <p:spPr>
          <a:xfrm>
            <a:off x="282025" y="1660775"/>
            <a:ext cx="38112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Char char="●"/>
            </a:pPr>
            <a:r>
              <a:rPr b="1" lang="en">
                <a:solidFill>
                  <a:srgbClr val="000000"/>
                </a:solidFill>
              </a:rPr>
              <a:t>LLM Model: Llama-3.3-70b-versatile via Groq</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RetrievalQA pipeline:</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Retrieve top triplets</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Pass to LLM along with user query</a:t>
            </a:r>
            <a:endParaRPr b="1">
              <a:solidFill>
                <a:srgbClr val="000000"/>
              </a:solidFill>
            </a:endParaRPr>
          </a:p>
          <a:p>
            <a:pPr indent="-298450" lvl="1" marL="914400" rtl="0" algn="l">
              <a:spcBef>
                <a:spcPts val="0"/>
              </a:spcBef>
              <a:spcAft>
                <a:spcPts val="0"/>
              </a:spcAft>
              <a:buClr>
                <a:srgbClr val="000000"/>
              </a:buClr>
              <a:buSzPts val="1100"/>
              <a:buChar char="○"/>
            </a:pPr>
            <a:r>
              <a:rPr b="1" lang="en">
                <a:solidFill>
                  <a:srgbClr val="000000"/>
                </a:solidFill>
              </a:rPr>
              <a:t>Generate grounded, fact-based answer</a:t>
            </a:r>
            <a:endParaRPr b="1">
              <a:solidFill>
                <a:srgbClr val="000000"/>
              </a:solidFill>
            </a:endParaRPr>
          </a:p>
          <a:p>
            <a:pPr indent="-311150" lvl="0" marL="457200" rtl="0" algn="l">
              <a:spcBef>
                <a:spcPts val="0"/>
              </a:spcBef>
              <a:spcAft>
                <a:spcPts val="0"/>
              </a:spcAft>
              <a:buClr>
                <a:srgbClr val="000000"/>
              </a:buClr>
              <a:buSzPts val="1300"/>
              <a:buChar char="●"/>
            </a:pPr>
            <a:r>
              <a:rPr b="1" lang="en">
                <a:solidFill>
                  <a:srgbClr val="000000"/>
                </a:solidFill>
              </a:rPr>
              <a:t>Combines retrieval + generation for better recommendations</a:t>
            </a:r>
            <a:endParaRPr b="1">
              <a:solidFill>
                <a:srgbClr val="000000"/>
              </a:solidFill>
            </a:endParaRPr>
          </a:p>
          <a:p>
            <a:pPr indent="0" lvl="0" marL="0" rtl="0" algn="l">
              <a:spcBef>
                <a:spcPts val="1200"/>
              </a:spcBef>
              <a:spcAft>
                <a:spcPts val="1200"/>
              </a:spcAft>
              <a:buNone/>
            </a:pPr>
            <a:r>
              <a:t/>
            </a:r>
            <a:endParaRPr b="1">
              <a:solidFill>
                <a:srgbClr val="000000"/>
              </a:solidFill>
            </a:endParaRPr>
          </a:p>
        </p:txBody>
      </p:sp>
      <p:pic>
        <p:nvPicPr>
          <p:cNvPr id="225" name="Google Shape;225;p23"/>
          <p:cNvPicPr preferRelativeResize="0"/>
          <p:nvPr/>
        </p:nvPicPr>
        <p:blipFill rotWithShape="1">
          <a:blip r:embed="rId3">
            <a:alphaModFix/>
          </a:blip>
          <a:srcRect b="19736" l="0" r="735" t="26780"/>
          <a:stretch/>
        </p:blipFill>
        <p:spPr>
          <a:xfrm>
            <a:off x="4211175" y="1800200"/>
            <a:ext cx="4484298" cy="1788076"/>
          </a:xfrm>
          <a:prstGeom prst="rect">
            <a:avLst/>
          </a:prstGeom>
          <a:noFill/>
          <a:ln>
            <a:noFill/>
          </a:ln>
        </p:spPr>
      </p:pic>
      <p:sp>
        <p:nvSpPr>
          <p:cNvPr id="226" name="Google Shape;226;p23"/>
          <p:cNvSpPr txBox="1"/>
          <p:nvPr>
            <p:ph idx="12" type="sldNum"/>
          </p:nvPr>
        </p:nvSpPr>
        <p:spPr>
          <a:xfrm>
            <a:off x="8383334" y="2130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10</a:t>
            </a:r>
            <a:endParaRPr b="1"/>
          </a:p>
        </p:txBody>
      </p:sp>
      <p:sp>
        <p:nvSpPr>
          <p:cNvPr id="227" name="Google Shape;227;p23"/>
          <p:cNvSpPr txBox="1"/>
          <p:nvPr/>
        </p:nvSpPr>
        <p:spPr>
          <a:xfrm>
            <a:off x="5802575" y="2974200"/>
            <a:ext cx="1546200" cy="4605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228" name="Google Shape;228;p23"/>
          <p:cNvSpPr txBox="1"/>
          <p:nvPr/>
        </p:nvSpPr>
        <p:spPr>
          <a:xfrm>
            <a:off x="5484525" y="2930350"/>
            <a:ext cx="164400" cy="330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229" name="Google Shape;229;p23"/>
          <p:cNvSpPr txBox="1"/>
          <p:nvPr/>
        </p:nvSpPr>
        <p:spPr>
          <a:xfrm>
            <a:off x="5758700" y="2941300"/>
            <a:ext cx="1886400" cy="57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2"/>
                </a:solidFill>
                <a:latin typeface="Calibri"/>
                <a:ea typeface="Calibri"/>
                <a:cs typeface="Calibri"/>
                <a:sym typeface="Calibri"/>
              </a:rPr>
              <a:t>Llama-3.3-70b-versatile via Groq</a:t>
            </a:r>
            <a:endParaRPr sz="1300">
              <a:solidFill>
                <a:schemeClr val="dk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33" name="Shape 233"/>
        <p:cNvGrpSpPr/>
        <p:nvPr/>
      </p:nvGrpSpPr>
      <p:grpSpPr>
        <a:xfrm>
          <a:off x="0" y="0"/>
          <a:ext cx="0" cy="0"/>
          <a:chOff x="0" y="0"/>
          <a:chExt cx="0" cy="0"/>
        </a:xfrm>
      </p:grpSpPr>
      <p:sp>
        <p:nvSpPr>
          <p:cNvPr id="234" name="Google Shape;234;p24"/>
          <p:cNvSpPr txBox="1"/>
          <p:nvPr/>
        </p:nvSpPr>
        <p:spPr>
          <a:xfrm>
            <a:off x="211450" y="208000"/>
            <a:ext cx="1726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Nunito"/>
                <a:ea typeface="Nunito"/>
                <a:cs typeface="Nunito"/>
                <a:sym typeface="Nunito"/>
              </a:rPr>
              <a:t>Results</a:t>
            </a:r>
            <a:endParaRPr b="1" sz="3000">
              <a:latin typeface="Nunito"/>
              <a:ea typeface="Nunito"/>
              <a:cs typeface="Nunito"/>
              <a:sym typeface="Nunito"/>
            </a:endParaRPr>
          </a:p>
        </p:txBody>
      </p:sp>
      <p:sp>
        <p:nvSpPr>
          <p:cNvPr id="235" name="Google Shape;235;p24"/>
          <p:cNvSpPr txBox="1"/>
          <p:nvPr>
            <p:ph idx="12" type="sldNum"/>
          </p:nvPr>
        </p:nvSpPr>
        <p:spPr>
          <a:xfrm>
            <a:off x="8388109" y="2079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11</a:t>
            </a:r>
            <a:endParaRPr b="1"/>
          </a:p>
        </p:txBody>
      </p:sp>
      <p:sp>
        <p:nvSpPr>
          <p:cNvPr id="236" name="Google Shape;236;p24"/>
          <p:cNvSpPr txBox="1"/>
          <p:nvPr/>
        </p:nvSpPr>
        <p:spPr>
          <a:xfrm>
            <a:off x="1126500" y="1189775"/>
            <a:ext cx="6927000" cy="45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Calibri"/>
                <a:ea typeface="Calibri"/>
                <a:cs typeface="Calibri"/>
                <a:sym typeface="Calibri"/>
              </a:rPr>
              <a:t>Query: Find movies acted by Leonardo </a:t>
            </a:r>
            <a:r>
              <a:rPr b="1" lang="en" sz="1300">
                <a:latin typeface="Calibri"/>
                <a:ea typeface="Calibri"/>
                <a:cs typeface="Calibri"/>
                <a:sym typeface="Calibri"/>
              </a:rPr>
              <a:t>DiCaprio released after 2000</a:t>
            </a:r>
            <a:r>
              <a:rPr b="1" lang="en" sz="1300">
                <a:latin typeface="Calibri"/>
                <a:ea typeface="Calibri"/>
                <a:cs typeface="Calibri"/>
                <a:sym typeface="Calibri"/>
              </a:rPr>
              <a:t>  </a:t>
            </a:r>
            <a:endParaRPr b="1" sz="1300">
              <a:latin typeface="Calibri"/>
              <a:ea typeface="Calibri"/>
              <a:cs typeface="Calibri"/>
              <a:sym typeface="Calibri"/>
            </a:endParaRPr>
          </a:p>
        </p:txBody>
      </p:sp>
      <p:graphicFrame>
        <p:nvGraphicFramePr>
          <p:cNvPr id="237" name="Google Shape;237;p24"/>
          <p:cNvGraphicFramePr/>
          <p:nvPr/>
        </p:nvGraphicFramePr>
        <p:xfrm>
          <a:off x="872300" y="1657350"/>
          <a:ext cx="3000000" cy="3000000"/>
        </p:xfrm>
        <a:graphic>
          <a:graphicData uri="http://schemas.openxmlformats.org/drawingml/2006/table">
            <a:tbl>
              <a:tblPr>
                <a:noFill/>
                <a:tableStyleId>{6F7470C9-42E9-48C5-83A0-1F60D20CB7A2}</a:tableStyleId>
              </a:tblPr>
              <a:tblGrid>
                <a:gridCol w="3683000"/>
                <a:gridCol w="3683000"/>
              </a:tblGrid>
              <a:tr h="381000">
                <a:tc>
                  <a:txBody>
                    <a:bodyPr/>
                    <a:lstStyle/>
                    <a:p>
                      <a:pPr indent="0" lvl="0" marL="0" rtl="0" algn="ctr">
                        <a:spcBef>
                          <a:spcPts val="0"/>
                        </a:spcBef>
                        <a:spcAft>
                          <a:spcPts val="0"/>
                        </a:spcAft>
                        <a:buNone/>
                      </a:pPr>
                      <a:r>
                        <a:rPr b="1" lang="en">
                          <a:latin typeface="Calibri"/>
                          <a:ea typeface="Calibri"/>
                          <a:cs typeface="Calibri"/>
                          <a:sym typeface="Calibri"/>
                        </a:rPr>
                        <a:t>Model</a:t>
                      </a:r>
                      <a:endParaRPr b="1">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b="1" lang="en">
                          <a:latin typeface="Calibri"/>
                          <a:ea typeface="Calibri"/>
                          <a:cs typeface="Calibri"/>
                          <a:sym typeface="Calibri"/>
                        </a:rPr>
                        <a:t>Dataset</a:t>
                      </a:r>
                      <a:endParaRPr b="1">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b="1" lang="en" sz="1200">
                          <a:latin typeface="Calibri"/>
                          <a:ea typeface="Calibri"/>
                          <a:cs typeface="Calibri"/>
                          <a:sym typeface="Calibri"/>
                        </a:rPr>
                        <a:t>Answer: Based on the provided facts, here are the movies acted by Leonardo DiCaprio released after 2000:</a:t>
                      </a:r>
                      <a:endParaRPr b="1" sz="1200">
                        <a:latin typeface="Calibri"/>
                        <a:ea typeface="Calibri"/>
                        <a:cs typeface="Calibri"/>
                        <a:sym typeface="Calibri"/>
                      </a:endParaRPr>
                    </a:p>
                    <a:p>
                      <a:pPr indent="0" lvl="0" marL="0" rtl="0" algn="l">
                        <a:spcBef>
                          <a:spcPts val="0"/>
                        </a:spcBef>
                        <a:spcAft>
                          <a:spcPts val="0"/>
                        </a:spcAft>
                        <a:buNone/>
                      </a:pPr>
                      <a:r>
                        <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1. Gangs of New York (2002)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2. Catch Me If You Can (2002)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3. The Aviator (2004)</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4. Blood Diamond (2006)</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5. The Departed (2006)</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6. Revolutionary Road (2008)</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7. Inception (2010)</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8. Django Unchained (2012)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9. The Wolf of Wall Street (2013)</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10. The Revenant (2015)</a:t>
                      </a:r>
                      <a:endParaRPr b="1"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 sz="1200">
                          <a:latin typeface="Calibri"/>
                          <a:ea typeface="Calibri"/>
                          <a:cs typeface="Calibri"/>
                          <a:sym typeface="Calibri"/>
                        </a:rPr>
                        <a:t>[{'title': 'Gangs of New York', 'year': 2002},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'Catch Me If You Can', 'year': 2002},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'Aviator, The', 'year': 2004},</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'Departed, The', 'year': 2006},</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'Blood Diamond', 'year': 2006},</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'Body of Lies', 'year': 2008},</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'Revolutionary Road', 'year': 2008},</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'Shutter Island', 'year': 2010},</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'Inception', 'year': 2010},</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'J. Edgar', 'year': 2011},</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'Django Unchained', 'year': 2012},</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'Great Gatsby, The', 'year': 2013},</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'Wolf of Wall Street, The', 'year': 2013},</a:t>
                      </a:r>
                      <a:endParaRPr b="1"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 {'title': 'The Revenant', 'year': 2015}]</a:t>
                      </a:r>
                      <a:endParaRPr b="1" sz="12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41" name="Shape 241"/>
        <p:cNvGrpSpPr/>
        <p:nvPr/>
      </p:nvGrpSpPr>
      <p:grpSpPr>
        <a:xfrm>
          <a:off x="0" y="0"/>
          <a:ext cx="0" cy="0"/>
          <a:chOff x="0" y="0"/>
          <a:chExt cx="0" cy="0"/>
        </a:xfrm>
      </p:grpSpPr>
      <p:sp>
        <p:nvSpPr>
          <p:cNvPr id="242" name="Google Shape;242;p25"/>
          <p:cNvSpPr txBox="1"/>
          <p:nvPr/>
        </p:nvSpPr>
        <p:spPr>
          <a:xfrm>
            <a:off x="211450" y="208000"/>
            <a:ext cx="1726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Nunito"/>
                <a:ea typeface="Nunito"/>
                <a:cs typeface="Nunito"/>
                <a:sym typeface="Nunito"/>
              </a:rPr>
              <a:t>Results</a:t>
            </a:r>
            <a:endParaRPr b="1" sz="3000">
              <a:latin typeface="Nunito"/>
              <a:ea typeface="Nunito"/>
              <a:cs typeface="Nunito"/>
              <a:sym typeface="Nunito"/>
            </a:endParaRPr>
          </a:p>
        </p:txBody>
      </p:sp>
      <p:sp>
        <p:nvSpPr>
          <p:cNvPr id="243" name="Google Shape;243;p25"/>
          <p:cNvSpPr txBox="1"/>
          <p:nvPr>
            <p:ph idx="12" type="sldNum"/>
          </p:nvPr>
        </p:nvSpPr>
        <p:spPr>
          <a:xfrm>
            <a:off x="8388109" y="2079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11</a:t>
            </a:r>
            <a:endParaRPr b="1"/>
          </a:p>
        </p:txBody>
      </p:sp>
      <p:sp>
        <p:nvSpPr>
          <p:cNvPr id="244" name="Google Shape;244;p25"/>
          <p:cNvSpPr txBox="1"/>
          <p:nvPr/>
        </p:nvSpPr>
        <p:spPr>
          <a:xfrm>
            <a:off x="901750" y="771725"/>
            <a:ext cx="73365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Calibri"/>
                <a:ea typeface="Calibri"/>
                <a:cs typeface="Calibri"/>
                <a:sym typeface="Calibri"/>
              </a:rPr>
              <a:t>Query: </a:t>
            </a:r>
            <a:r>
              <a:rPr lang="en" sz="1300">
                <a:latin typeface="Calibri"/>
                <a:ea typeface="Calibri"/>
                <a:cs typeface="Calibri"/>
                <a:sym typeface="Calibri"/>
              </a:rPr>
              <a:t>Can you recommend me a recent movie with Adventure genre and rating greater than 3 with actor leonardo dicaprio</a:t>
            </a:r>
            <a:endParaRPr sz="1300">
              <a:latin typeface="Calibri"/>
              <a:ea typeface="Calibri"/>
              <a:cs typeface="Calibri"/>
              <a:sym typeface="Calibri"/>
            </a:endParaRPr>
          </a:p>
        </p:txBody>
      </p:sp>
      <p:graphicFrame>
        <p:nvGraphicFramePr>
          <p:cNvPr id="245" name="Google Shape;245;p25"/>
          <p:cNvGraphicFramePr/>
          <p:nvPr/>
        </p:nvGraphicFramePr>
        <p:xfrm>
          <a:off x="872300" y="1657350"/>
          <a:ext cx="3000000" cy="3000000"/>
        </p:xfrm>
        <a:graphic>
          <a:graphicData uri="http://schemas.openxmlformats.org/drawingml/2006/table">
            <a:tbl>
              <a:tblPr>
                <a:noFill/>
                <a:tableStyleId>{6F7470C9-42E9-48C5-83A0-1F60D20CB7A2}</a:tableStyleId>
              </a:tblPr>
              <a:tblGrid>
                <a:gridCol w="3683000"/>
                <a:gridCol w="3683000"/>
              </a:tblGrid>
              <a:tr h="381000">
                <a:tc>
                  <a:txBody>
                    <a:bodyPr/>
                    <a:lstStyle/>
                    <a:p>
                      <a:pPr indent="0" lvl="0" marL="0" rtl="0" algn="ctr">
                        <a:spcBef>
                          <a:spcPts val="0"/>
                        </a:spcBef>
                        <a:spcAft>
                          <a:spcPts val="0"/>
                        </a:spcAft>
                        <a:buNone/>
                      </a:pPr>
                      <a:r>
                        <a:rPr b="1" lang="en">
                          <a:latin typeface="Calibri"/>
                          <a:ea typeface="Calibri"/>
                          <a:cs typeface="Calibri"/>
                          <a:sym typeface="Calibri"/>
                        </a:rPr>
                        <a:t>Model</a:t>
                      </a:r>
                      <a:endParaRPr b="1">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b="1" lang="en">
                          <a:latin typeface="Calibri"/>
                          <a:ea typeface="Calibri"/>
                          <a:cs typeface="Calibri"/>
                          <a:sym typeface="Calibri"/>
                        </a:rPr>
                        <a:t>Dataset</a:t>
                      </a:r>
                      <a:endParaRPr b="1">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 sz="1200">
                          <a:latin typeface="Calibri"/>
                          <a:ea typeface="Calibri"/>
                          <a:cs typeface="Calibri"/>
                          <a:sym typeface="Calibri"/>
                        </a:rPr>
                        <a:t>Answer: Based on the provided data, I can recommend a recent movie with the Adventure genre and a rating greater than 3 that features Leonardo DiCaprio.</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The movie is </a:t>
                      </a:r>
                      <a:r>
                        <a:rPr b="1" lang="en" sz="1200">
                          <a:latin typeface="Calibri"/>
                          <a:ea typeface="Calibri"/>
                          <a:cs typeface="Calibri"/>
                          <a:sym typeface="Calibri"/>
                        </a:rPr>
                        <a:t>"The Revenant" (2015)</a:t>
                      </a:r>
                      <a:r>
                        <a:rPr lang="en" sz="1200">
                          <a:latin typeface="Calibri"/>
                          <a:ea typeface="Calibri"/>
                          <a:cs typeface="Calibri"/>
                          <a:sym typeface="Calibri"/>
                        </a:rPr>
                        <a:t>, which has an IMDb rating of 8.0 and belongs to the Adventure genre. Leonardo DiCaprio stars in the film, which was directed by Alejandro G. Iñárritu.</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Please note that this recommendation is based on the provided data and might not reflect your personal preferences or opinions.</a:t>
                      </a:r>
                      <a:endParaRPr sz="12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latin typeface="Calibri"/>
                          <a:ea typeface="Calibri"/>
                          <a:cs typeface="Calibri"/>
                          <a:sym typeface="Calibri"/>
                        </a:rPr>
                        <a:t>[{'title': 'The Revenant', 'year': 2015},</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{'title': 'Blood Diamond', 'year': 2006},</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{'title': 'Beach, The', 'year': 2000},</a:t>
                      </a:r>
                      <a:endParaRPr sz="1200">
                        <a:latin typeface="Calibri"/>
                        <a:ea typeface="Calibri"/>
                        <a:cs typeface="Calibri"/>
                        <a:sym typeface="Calibri"/>
                      </a:endParaRPr>
                    </a:p>
                    <a:p>
                      <a:pPr indent="0" lvl="0" marL="0" rtl="0" algn="l">
                        <a:spcBef>
                          <a:spcPts val="0"/>
                        </a:spcBef>
                        <a:spcAft>
                          <a:spcPts val="0"/>
                        </a:spcAft>
                        <a:buNone/>
                      </a:pPr>
                      <a:r>
                        <a:rPr lang="en" sz="1200">
                          <a:latin typeface="Calibri"/>
                          <a:ea typeface="Calibri"/>
                          <a:cs typeface="Calibri"/>
                          <a:sym typeface="Calibri"/>
                        </a:rPr>
                        <a:t> {'title': 'Man in the Iron Mask, The', 'year': 1998}]</a:t>
                      </a:r>
                      <a:endParaRPr sz="12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49" name="Shape 249"/>
        <p:cNvGrpSpPr/>
        <p:nvPr/>
      </p:nvGrpSpPr>
      <p:grpSpPr>
        <a:xfrm>
          <a:off x="0" y="0"/>
          <a:ext cx="0" cy="0"/>
          <a:chOff x="0" y="0"/>
          <a:chExt cx="0" cy="0"/>
        </a:xfrm>
      </p:grpSpPr>
      <p:sp>
        <p:nvSpPr>
          <p:cNvPr id="250" name="Google Shape;250;p26"/>
          <p:cNvSpPr txBox="1"/>
          <p:nvPr/>
        </p:nvSpPr>
        <p:spPr>
          <a:xfrm>
            <a:off x="211450" y="208000"/>
            <a:ext cx="1726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Nunito"/>
                <a:ea typeface="Nunito"/>
                <a:cs typeface="Nunito"/>
                <a:sym typeface="Nunito"/>
              </a:rPr>
              <a:t>DEMO</a:t>
            </a:r>
            <a:endParaRPr b="1" sz="3000">
              <a:latin typeface="Nunito"/>
              <a:ea typeface="Nunito"/>
              <a:cs typeface="Nunito"/>
              <a:sym typeface="Nunito"/>
            </a:endParaRPr>
          </a:p>
        </p:txBody>
      </p:sp>
      <p:sp>
        <p:nvSpPr>
          <p:cNvPr id="251" name="Google Shape;251;p26"/>
          <p:cNvSpPr txBox="1"/>
          <p:nvPr>
            <p:ph idx="12" type="sldNum"/>
          </p:nvPr>
        </p:nvSpPr>
        <p:spPr>
          <a:xfrm>
            <a:off x="8388109" y="2079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11</a:t>
            </a:r>
            <a:endParaRPr b="1"/>
          </a:p>
        </p:txBody>
      </p:sp>
      <p:sp>
        <p:nvSpPr>
          <p:cNvPr id="252" name="Google Shape;252;p26"/>
          <p:cNvSpPr txBox="1"/>
          <p:nvPr/>
        </p:nvSpPr>
        <p:spPr>
          <a:xfrm>
            <a:off x="1640113" y="359425"/>
            <a:ext cx="5816400" cy="646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300">
                <a:latin typeface="Calibri"/>
                <a:ea typeface="Calibri"/>
                <a:cs typeface="Calibri"/>
                <a:sym typeface="Calibri"/>
              </a:rPr>
              <a:t>A natural-language query is grounded with FAISS-retrieved triplets and answered by llama-3.3-70b-versatile with citations. Sidebar exposes model switching, latency, grounding score, and pipeline trace for evaluation-first transparency.</a:t>
            </a:r>
            <a:endParaRPr sz="1300">
              <a:latin typeface="Calibri"/>
              <a:ea typeface="Calibri"/>
              <a:cs typeface="Calibri"/>
              <a:sym typeface="Calibri"/>
            </a:endParaRPr>
          </a:p>
        </p:txBody>
      </p:sp>
      <p:pic>
        <p:nvPicPr>
          <p:cNvPr id="253" name="Google Shape;253;p26"/>
          <p:cNvPicPr preferRelativeResize="0"/>
          <p:nvPr/>
        </p:nvPicPr>
        <p:blipFill>
          <a:blip r:embed="rId3">
            <a:alphaModFix/>
          </a:blip>
          <a:stretch>
            <a:fillRect/>
          </a:stretch>
        </p:blipFill>
        <p:spPr>
          <a:xfrm>
            <a:off x="211450" y="1121325"/>
            <a:ext cx="8725350" cy="39099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57" name="Shape 257"/>
        <p:cNvGrpSpPr/>
        <p:nvPr/>
      </p:nvGrpSpPr>
      <p:grpSpPr>
        <a:xfrm>
          <a:off x="0" y="0"/>
          <a:ext cx="0" cy="0"/>
          <a:chOff x="0" y="0"/>
          <a:chExt cx="0" cy="0"/>
        </a:xfrm>
      </p:grpSpPr>
      <p:sp>
        <p:nvSpPr>
          <p:cNvPr id="258" name="Google Shape;258;p27"/>
          <p:cNvSpPr txBox="1"/>
          <p:nvPr>
            <p:ph type="title"/>
          </p:nvPr>
        </p:nvSpPr>
        <p:spPr>
          <a:xfrm>
            <a:off x="297125" y="451075"/>
            <a:ext cx="82353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Evaluation of RAG System</a:t>
            </a:r>
            <a:endParaRPr b="1">
              <a:solidFill>
                <a:srgbClr val="000000"/>
              </a:solidFill>
            </a:endParaRPr>
          </a:p>
        </p:txBody>
      </p:sp>
      <p:sp>
        <p:nvSpPr>
          <p:cNvPr id="259" name="Google Shape;259;p27"/>
          <p:cNvSpPr txBox="1"/>
          <p:nvPr>
            <p:ph idx="1" type="body"/>
          </p:nvPr>
        </p:nvSpPr>
        <p:spPr>
          <a:xfrm>
            <a:off x="757775" y="1108950"/>
            <a:ext cx="7505700" cy="29256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Char char="●"/>
            </a:pPr>
            <a:r>
              <a:rPr b="1" lang="en" sz="1200">
                <a:solidFill>
                  <a:srgbClr val="000000"/>
                </a:solidFill>
              </a:rPr>
              <a:t>Precision measures how many of the retrieved movies are actually correct.</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Recall measures how many of the correct movies were successfully retrieved.</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F1-Score balances both precision and recall. </a:t>
            </a:r>
            <a:endParaRPr b="1" sz="1200">
              <a:solidFill>
                <a:srgbClr val="000000"/>
              </a:solidFill>
            </a:endParaRPr>
          </a:p>
          <a:p>
            <a:pPr indent="0" lvl="0" marL="457200" rtl="0" algn="l">
              <a:spcBef>
                <a:spcPts val="1200"/>
              </a:spcBef>
              <a:spcAft>
                <a:spcPts val="0"/>
              </a:spcAft>
              <a:buNone/>
            </a:pPr>
            <a:r>
              <a:t/>
            </a:r>
            <a:endParaRPr sz="1200">
              <a:solidFill>
                <a:srgbClr val="000000"/>
              </a:solidFill>
            </a:endParaRPr>
          </a:p>
          <a:p>
            <a:pPr indent="0" lvl="0" marL="457200" rtl="0" algn="l">
              <a:spcBef>
                <a:spcPts val="1200"/>
              </a:spcBef>
              <a:spcAft>
                <a:spcPts val="1200"/>
              </a:spcAft>
              <a:buNone/>
            </a:pPr>
            <a:r>
              <a:t/>
            </a:r>
            <a:endParaRPr sz="1200">
              <a:solidFill>
                <a:srgbClr val="000000"/>
              </a:solidFill>
            </a:endParaRPr>
          </a:p>
        </p:txBody>
      </p:sp>
      <p:sp>
        <p:nvSpPr>
          <p:cNvPr id="260" name="Google Shape;260;p27"/>
          <p:cNvSpPr txBox="1"/>
          <p:nvPr>
            <p:ph idx="12" type="sldNum"/>
          </p:nvPr>
        </p:nvSpPr>
        <p:spPr>
          <a:xfrm>
            <a:off x="83981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13</a:t>
            </a:r>
            <a:endParaRPr b="1"/>
          </a:p>
        </p:txBody>
      </p:sp>
      <p:graphicFrame>
        <p:nvGraphicFramePr>
          <p:cNvPr id="261" name="Google Shape;261;p27"/>
          <p:cNvGraphicFramePr/>
          <p:nvPr/>
        </p:nvGraphicFramePr>
        <p:xfrm>
          <a:off x="297150" y="2190750"/>
          <a:ext cx="3000000" cy="3000000"/>
        </p:xfrm>
        <a:graphic>
          <a:graphicData uri="http://schemas.openxmlformats.org/drawingml/2006/table">
            <a:tbl>
              <a:tblPr>
                <a:noFill/>
                <a:tableStyleId>{6F7470C9-42E9-48C5-83A0-1F60D20CB7A2}</a:tableStyleId>
              </a:tblPr>
              <a:tblGrid>
                <a:gridCol w="2828925"/>
                <a:gridCol w="2828925"/>
                <a:gridCol w="2828925"/>
              </a:tblGrid>
              <a:tr h="381000">
                <a:tc>
                  <a:txBody>
                    <a:bodyPr/>
                    <a:lstStyle/>
                    <a:p>
                      <a:pPr indent="0" lvl="0" marL="0" rtl="0" algn="l">
                        <a:spcBef>
                          <a:spcPts val="0"/>
                        </a:spcBef>
                        <a:spcAft>
                          <a:spcPts val="0"/>
                        </a:spcAft>
                        <a:buNone/>
                      </a:pPr>
                      <a:r>
                        <a:rPr b="1" lang="en">
                          <a:latin typeface="Calibri"/>
                          <a:ea typeface="Calibri"/>
                          <a:cs typeface="Calibri"/>
                          <a:sym typeface="Calibri"/>
                        </a:rPr>
                        <a:t>Query: List adventure movies released after 2000</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
                          <a:latin typeface="Calibri"/>
                          <a:ea typeface="Calibri"/>
                          <a:cs typeface="Calibri"/>
                          <a:sym typeface="Calibri"/>
                        </a:rPr>
                        <a:t>Query: Find movies acted by Leonardo DiCaprio released after 2000</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
                          <a:latin typeface="Calibri"/>
                          <a:ea typeface="Calibri"/>
                          <a:cs typeface="Calibri"/>
                          <a:sym typeface="Calibri"/>
                        </a:rPr>
                        <a:t>Overall RAG System Performance </a:t>
                      </a:r>
                      <a:endParaRPr b="1">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b="1" lang="en">
                          <a:latin typeface="Calibri"/>
                          <a:ea typeface="Calibri"/>
                          <a:cs typeface="Calibri"/>
                          <a:sym typeface="Calibri"/>
                        </a:rPr>
                        <a:t>Precision@10: 0.60</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Recall@10: 0.01</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F1-score@10: 0.02</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
                          <a:latin typeface="Calibri"/>
                          <a:ea typeface="Calibri"/>
                          <a:cs typeface="Calibri"/>
                          <a:sym typeface="Calibri"/>
                        </a:rPr>
                        <a:t>Precision@10: 0.70</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Recall@10: 0.50</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F1-score@10: 0.58</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
                          <a:latin typeface="Calibri"/>
                          <a:ea typeface="Calibri"/>
                          <a:cs typeface="Calibri"/>
                          <a:sym typeface="Calibri"/>
                        </a:rPr>
                        <a:t>Average Precision@10: 0.65</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Average Recall@10: 0.26</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Average F1-score@10: 0.30</a:t>
                      </a:r>
                      <a:endParaRPr b="1">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65" name="Shape 265"/>
        <p:cNvGrpSpPr/>
        <p:nvPr/>
      </p:nvGrpSpPr>
      <p:grpSpPr>
        <a:xfrm>
          <a:off x="0" y="0"/>
          <a:ext cx="0" cy="0"/>
          <a:chOff x="0" y="0"/>
          <a:chExt cx="0" cy="0"/>
        </a:xfrm>
      </p:grpSpPr>
      <p:sp>
        <p:nvSpPr>
          <p:cNvPr id="266" name="Google Shape;266;p28"/>
          <p:cNvSpPr txBox="1"/>
          <p:nvPr>
            <p:ph type="title"/>
          </p:nvPr>
        </p:nvSpPr>
        <p:spPr>
          <a:xfrm>
            <a:off x="297125" y="451075"/>
            <a:ext cx="82353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Extended Evaluation - 51 Queries × 3 Models</a:t>
            </a:r>
            <a:endParaRPr b="1">
              <a:solidFill>
                <a:srgbClr val="000000"/>
              </a:solidFill>
            </a:endParaRPr>
          </a:p>
        </p:txBody>
      </p:sp>
      <p:sp>
        <p:nvSpPr>
          <p:cNvPr id="267" name="Google Shape;267;p28"/>
          <p:cNvSpPr txBox="1"/>
          <p:nvPr>
            <p:ph idx="1" type="body"/>
          </p:nvPr>
        </p:nvSpPr>
        <p:spPr>
          <a:xfrm>
            <a:off x="435650" y="920800"/>
            <a:ext cx="7505700" cy="954600"/>
          </a:xfrm>
          <a:prstGeom prst="rect">
            <a:avLst/>
          </a:prstGeom>
        </p:spPr>
        <p:txBody>
          <a:bodyPr anchorCtr="0" anchor="t" bIns="91425" lIns="91425" spcFirstLastPara="1" rIns="91425" wrap="square" tIns="91425">
            <a:normAutofit lnSpcReduction="10000"/>
          </a:bodyPr>
          <a:lstStyle/>
          <a:p>
            <a:pPr indent="-304800" lvl="0" marL="457200" rtl="0" algn="l">
              <a:spcBef>
                <a:spcPts val="0"/>
              </a:spcBef>
              <a:spcAft>
                <a:spcPts val="0"/>
              </a:spcAft>
              <a:buClr>
                <a:srgbClr val="000000"/>
              </a:buClr>
              <a:buSzPts val="1200"/>
              <a:buChar char="●"/>
            </a:pPr>
            <a:r>
              <a:rPr b="1" lang="en" sz="1200">
                <a:solidFill>
                  <a:srgbClr val="000000"/>
                </a:solidFill>
              </a:rPr>
              <a:t>Evaluated three Groq LLMs on 51 queries with 15 Cypher-derived GT queries: llama-3.1-8b-instant (P@10=0.71, F1=0.32, 2.97s), openai/gpt-oss-20b (P@10=0.51, F1=0.23, 6.59s), and llama-3.3-70b-versatile (P@10=0.13, F1=0.03, rate-limited 5/51). 8B wins decisively on both quality and latency - an evaluation-driven model-selection finding.</a:t>
            </a:r>
            <a:endParaRPr sz="1200">
              <a:solidFill>
                <a:srgbClr val="000000"/>
              </a:solidFill>
            </a:endParaRPr>
          </a:p>
        </p:txBody>
      </p:sp>
      <p:sp>
        <p:nvSpPr>
          <p:cNvPr id="268" name="Google Shape;268;p28"/>
          <p:cNvSpPr txBox="1"/>
          <p:nvPr>
            <p:ph idx="12" type="sldNum"/>
          </p:nvPr>
        </p:nvSpPr>
        <p:spPr>
          <a:xfrm>
            <a:off x="83981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13</a:t>
            </a:r>
            <a:endParaRPr b="1"/>
          </a:p>
        </p:txBody>
      </p:sp>
      <p:pic>
        <p:nvPicPr>
          <p:cNvPr id="269" name="Google Shape;269;p28"/>
          <p:cNvPicPr preferRelativeResize="0"/>
          <p:nvPr/>
        </p:nvPicPr>
        <p:blipFill>
          <a:blip r:embed="rId3">
            <a:alphaModFix/>
          </a:blip>
          <a:stretch>
            <a:fillRect/>
          </a:stretch>
        </p:blipFill>
        <p:spPr>
          <a:xfrm>
            <a:off x="297125" y="1875400"/>
            <a:ext cx="8567277" cy="853625"/>
          </a:xfrm>
          <a:prstGeom prst="rect">
            <a:avLst/>
          </a:prstGeom>
          <a:noFill/>
          <a:ln>
            <a:noFill/>
          </a:ln>
        </p:spPr>
      </p:pic>
      <p:pic>
        <p:nvPicPr>
          <p:cNvPr id="270" name="Google Shape;270;p28"/>
          <p:cNvPicPr preferRelativeResize="0"/>
          <p:nvPr/>
        </p:nvPicPr>
        <p:blipFill>
          <a:blip r:embed="rId4">
            <a:alphaModFix/>
          </a:blip>
          <a:stretch>
            <a:fillRect/>
          </a:stretch>
        </p:blipFill>
        <p:spPr>
          <a:xfrm>
            <a:off x="219150" y="2729025"/>
            <a:ext cx="8727674" cy="2109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74" name="Shape 274"/>
        <p:cNvGrpSpPr/>
        <p:nvPr/>
      </p:nvGrpSpPr>
      <p:grpSpPr>
        <a:xfrm>
          <a:off x="0" y="0"/>
          <a:ext cx="0" cy="0"/>
          <a:chOff x="0" y="0"/>
          <a:chExt cx="0" cy="0"/>
        </a:xfrm>
      </p:grpSpPr>
      <p:sp>
        <p:nvSpPr>
          <p:cNvPr id="275" name="Google Shape;275;p29"/>
          <p:cNvSpPr txBox="1"/>
          <p:nvPr>
            <p:ph type="title"/>
          </p:nvPr>
        </p:nvSpPr>
        <p:spPr>
          <a:xfrm>
            <a:off x="297125" y="451075"/>
            <a:ext cx="82353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Extended Evaluation - 50 Queries × 3 Models</a:t>
            </a:r>
            <a:endParaRPr b="1">
              <a:solidFill>
                <a:srgbClr val="000000"/>
              </a:solidFill>
            </a:endParaRPr>
          </a:p>
        </p:txBody>
      </p:sp>
      <p:sp>
        <p:nvSpPr>
          <p:cNvPr id="276" name="Google Shape;276;p29"/>
          <p:cNvSpPr txBox="1"/>
          <p:nvPr>
            <p:ph idx="1" type="body"/>
          </p:nvPr>
        </p:nvSpPr>
        <p:spPr>
          <a:xfrm>
            <a:off x="757775" y="1108950"/>
            <a:ext cx="7505700" cy="29256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sz="1200">
              <a:solidFill>
                <a:srgbClr val="000000"/>
              </a:solidFill>
            </a:endParaRPr>
          </a:p>
        </p:txBody>
      </p:sp>
      <p:sp>
        <p:nvSpPr>
          <p:cNvPr id="277" name="Google Shape;277;p29"/>
          <p:cNvSpPr txBox="1"/>
          <p:nvPr>
            <p:ph idx="12" type="sldNum"/>
          </p:nvPr>
        </p:nvSpPr>
        <p:spPr>
          <a:xfrm>
            <a:off x="83981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13</a:t>
            </a:r>
            <a:endParaRPr b="1"/>
          </a:p>
        </p:txBody>
      </p:sp>
      <p:pic>
        <p:nvPicPr>
          <p:cNvPr id="278" name="Google Shape;278;p29"/>
          <p:cNvPicPr preferRelativeResize="0"/>
          <p:nvPr/>
        </p:nvPicPr>
        <p:blipFill>
          <a:blip r:embed="rId3">
            <a:alphaModFix/>
          </a:blip>
          <a:stretch>
            <a:fillRect/>
          </a:stretch>
        </p:blipFill>
        <p:spPr>
          <a:xfrm>
            <a:off x="219150" y="1108950"/>
            <a:ext cx="8727674" cy="3807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82" name="Shape 282"/>
        <p:cNvGrpSpPr/>
        <p:nvPr/>
      </p:nvGrpSpPr>
      <p:grpSpPr>
        <a:xfrm>
          <a:off x="0" y="0"/>
          <a:ext cx="0" cy="0"/>
          <a:chOff x="0" y="0"/>
          <a:chExt cx="0" cy="0"/>
        </a:xfrm>
      </p:grpSpPr>
      <p:sp>
        <p:nvSpPr>
          <p:cNvPr id="283" name="Google Shape;283;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Conclusion</a:t>
            </a:r>
            <a:endParaRPr b="1">
              <a:solidFill>
                <a:srgbClr val="000000"/>
              </a:solidFill>
            </a:endParaRPr>
          </a:p>
        </p:txBody>
      </p:sp>
      <p:sp>
        <p:nvSpPr>
          <p:cNvPr id="284" name="Google Shape;284;p30"/>
          <p:cNvSpPr txBox="1"/>
          <p:nvPr>
            <p:ph idx="1" type="body"/>
          </p:nvPr>
        </p:nvSpPr>
        <p:spPr>
          <a:xfrm>
            <a:off x="819150" y="1513175"/>
            <a:ext cx="7505700" cy="29256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Char char="●"/>
            </a:pPr>
            <a:r>
              <a:rPr b="1" lang="en" sz="1200">
                <a:solidFill>
                  <a:srgbClr val="000000"/>
                </a:solidFill>
              </a:rPr>
              <a:t>Successfully combined Knowledge Graph triplets with RAG to enhance movie recommendations.</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Overall, the system prioritizes accuracy over completeness.</a:t>
            </a:r>
            <a:endParaRPr b="1"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Future Work:</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Improve recall by retrieving more diverse triplets.</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Explore hybrid RAG combining both plot embeddings and knowledge graph facts.</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Fine-tune reranking models for better relevance scoring.</a:t>
            </a:r>
            <a:endParaRPr b="1" sz="1200">
              <a:solidFill>
                <a:srgbClr val="000000"/>
              </a:solidFill>
            </a:endParaRPr>
          </a:p>
          <a:p>
            <a:pPr indent="-304800" lvl="1" marL="914400" rtl="0" algn="l">
              <a:spcBef>
                <a:spcPts val="0"/>
              </a:spcBef>
              <a:spcAft>
                <a:spcPts val="0"/>
              </a:spcAft>
              <a:buClr>
                <a:srgbClr val="000000"/>
              </a:buClr>
              <a:buSzPts val="1200"/>
              <a:buChar char="○"/>
            </a:pPr>
            <a:r>
              <a:rPr b="1" lang="en" sz="1200">
                <a:solidFill>
                  <a:srgbClr val="000000"/>
                </a:solidFill>
              </a:rPr>
              <a:t>Expand to larger, real-world movie datasets.</a:t>
            </a:r>
            <a:endParaRPr b="1" sz="1200">
              <a:solidFill>
                <a:srgbClr val="000000"/>
              </a:solidFill>
            </a:endParaRPr>
          </a:p>
          <a:p>
            <a:pPr indent="0" lvl="0" marL="0" rtl="0" algn="l">
              <a:spcBef>
                <a:spcPts val="1200"/>
              </a:spcBef>
              <a:spcAft>
                <a:spcPts val="1200"/>
              </a:spcAft>
              <a:buNone/>
            </a:pPr>
            <a:r>
              <a:t/>
            </a:r>
            <a:endParaRPr b="1" sz="1200">
              <a:solidFill>
                <a:srgbClr val="000000"/>
              </a:solidFill>
            </a:endParaRPr>
          </a:p>
        </p:txBody>
      </p:sp>
      <p:sp>
        <p:nvSpPr>
          <p:cNvPr id="285" name="Google Shape;285;p30"/>
          <p:cNvSpPr txBox="1"/>
          <p:nvPr>
            <p:ph idx="12" type="sldNum"/>
          </p:nvPr>
        </p:nvSpPr>
        <p:spPr>
          <a:xfrm>
            <a:off x="8390734" y="213068"/>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14</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89" name="Shape 289"/>
        <p:cNvGrpSpPr/>
        <p:nvPr/>
      </p:nvGrpSpPr>
      <p:grpSpPr>
        <a:xfrm>
          <a:off x="0" y="0"/>
          <a:ext cx="0" cy="0"/>
          <a:chOff x="0" y="0"/>
          <a:chExt cx="0" cy="0"/>
        </a:xfrm>
      </p:grpSpPr>
      <p:sp>
        <p:nvSpPr>
          <p:cNvPr id="290" name="Google Shape;290;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rPr>
              <a:t>References:</a:t>
            </a:r>
            <a:endParaRPr b="1">
              <a:solidFill>
                <a:srgbClr val="000000"/>
              </a:solidFill>
            </a:endParaRPr>
          </a:p>
        </p:txBody>
      </p:sp>
      <p:sp>
        <p:nvSpPr>
          <p:cNvPr id="291" name="Google Shape;291;p31"/>
          <p:cNvSpPr txBox="1"/>
          <p:nvPr>
            <p:ph idx="1" type="body"/>
          </p:nvPr>
        </p:nvSpPr>
        <p:spPr>
          <a:xfrm>
            <a:off x="819150" y="1513175"/>
            <a:ext cx="7505700" cy="29256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Char char="●"/>
            </a:pPr>
            <a:r>
              <a:rPr lang="en" sz="1200">
                <a:solidFill>
                  <a:srgbClr val="000000"/>
                </a:solidFill>
              </a:rPr>
              <a:t>P. Lewis et al., “Retrieval-Augmented Generation for Knowledge-Intensive NLP Tasks,” arXiv.org, Apr. 12, 2021. </a:t>
            </a:r>
            <a:r>
              <a:rPr lang="en" sz="1200" u="sng">
                <a:solidFill>
                  <a:srgbClr val="0000FF"/>
                </a:solidFill>
                <a:hlinkClick r:id="rId3">
                  <a:extLst>
                    <a:ext uri="{A12FA001-AC4F-418D-AE19-62706E023703}">
                      <ahyp:hlinkClr val="tx"/>
                    </a:ext>
                  </a:extLst>
                </a:hlinkClick>
              </a:rPr>
              <a:t>https://arxiv.org/abs/2005.11401</a:t>
            </a:r>
            <a:endParaRPr sz="1200">
              <a:solidFill>
                <a:srgbClr val="0000FF"/>
              </a:solidFill>
            </a:endParaRPr>
          </a:p>
          <a:p>
            <a:pPr indent="-304800" lvl="0" marL="457200" rtl="0" algn="l">
              <a:spcBef>
                <a:spcPts val="0"/>
              </a:spcBef>
              <a:spcAft>
                <a:spcPts val="0"/>
              </a:spcAft>
              <a:buClr>
                <a:srgbClr val="000000"/>
              </a:buClr>
              <a:buSzPts val="1200"/>
              <a:buChar char="●"/>
            </a:pPr>
            <a:r>
              <a:rPr lang="en" sz="1200">
                <a:solidFill>
                  <a:srgbClr val="000000"/>
                </a:solidFill>
              </a:rPr>
              <a:t>A. Hogan et al., “Knowledge Graphs,” ACM Computing Surveys, vol. 54, no. 4, pp. 1–37, May 2022, doi: </a:t>
            </a:r>
            <a:r>
              <a:rPr lang="en" sz="1200" u="sng">
                <a:solidFill>
                  <a:srgbClr val="0000FF"/>
                </a:solidFill>
                <a:hlinkClick r:id="rId4">
                  <a:extLst>
                    <a:ext uri="{A12FA001-AC4F-418D-AE19-62706E023703}">
                      <ahyp:hlinkClr val="tx"/>
                    </a:ext>
                  </a:extLst>
                </a:hlinkClick>
              </a:rPr>
              <a:t>https://doi.org/10.1145/3447772</a:t>
            </a:r>
            <a:r>
              <a:rPr lang="en" sz="1200">
                <a:solidFill>
                  <a:schemeClr val="accent6"/>
                </a:solidFill>
              </a:rPr>
              <a:t>.</a:t>
            </a:r>
            <a:endParaRPr sz="1200">
              <a:solidFill>
                <a:schemeClr val="accent6"/>
              </a:solidFill>
            </a:endParaRPr>
          </a:p>
          <a:p>
            <a:pPr indent="-304800" lvl="0" marL="457200" rtl="0" algn="l">
              <a:spcBef>
                <a:spcPts val="0"/>
              </a:spcBef>
              <a:spcAft>
                <a:spcPts val="0"/>
              </a:spcAft>
              <a:buClr>
                <a:srgbClr val="000000"/>
              </a:buClr>
              <a:buSzPts val="1200"/>
              <a:buChar char="●"/>
            </a:pPr>
            <a:r>
              <a:rPr lang="en" sz="1200">
                <a:solidFill>
                  <a:srgbClr val="000000"/>
                </a:solidFill>
              </a:rPr>
              <a:t>“KG-Retriever: Efficient Knowledge Indexing for Retrieval-Augmented Large Language Models,” Arxiv.org, 2023. </a:t>
            </a:r>
            <a:r>
              <a:rPr lang="en" sz="1200" u="sng">
                <a:solidFill>
                  <a:srgbClr val="0000FF"/>
                </a:solidFill>
                <a:hlinkClick r:id="rId5">
                  <a:extLst>
                    <a:ext uri="{A12FA001-AC4F-418D-AE19-62706E023703}">
                      <ahyp:hlinkClr val="tx"/>
                    </a:ext>
                  </a:extLst>
                </a:hlinkClick>
              </a:rPr>
              <a:t>https://arxiv.org/html/2412.05547v1</a:t>
            </a:r>
            <a:endParaRPr sz="1200">
              <a:solidFill>
                <a:srgbClr val="0000FF"/>
              </a:solidFill>
            </a:endParaRPr>
          </a:p>
          <a:p>
            <a:pPr indent="-304800" lvl="0" marL="457200" rtl="0" algn="l">
              <a:spcBef>
                <a:spcPts val="0"/>
              </a:spcBef>
              <a:spcAft>
                <a:spcPts val="0"/>
              </a:spcAft>
              <a:buClr>
                <a:srgbClr val="000000"/>
              </a:buClr>
              <a:buSzPts val="1200"/>
              <a:buChar char="●"/>
            </a:pPr>
            <a:r>
              <a:rPr lang="en" sz="1200">
                <a:solidFill>
                  <a:srgbClr val="000000"/>
                </a:solidFill>
              </a:rPr>
              <a:t>L. S. Nair and J. Cheriyan, “Multi-Featured Movie Recommendation Using Knowledge Graph,” Jan. 2023, doi: </a:t>
            </a:r>
            <a:r>
              <a:rPr lang="en" sz="1200" u="sng">
                <a:solidFill>
                  <a:srgbClr val="0000FF"/>
                </a:solidFill>
                <a:hlinkClick r:id="rId6">
                  <a:extLst>
                    <a:ext uri="{A12FA001-AC4F-418D-AE19-62706E023703}">
                      <ahyp:hlinkClr val="tx"/>
                    </a:ext>
                  </a:extLst>
                </a:hlinkClick>
              </a:rPr>
              <a:t>https://doi.org/10.1109/idciot56793.2023.10053435</a:t>
            </a:r>
            <a:r>
              <a:rPr lang="en" sz="1200">
                <a:solidFill>
                  <a:srgbClr val="0000FF"/>
                </a:solidFill>
              </a:rPr>
              <a:t>.</a:t>
            </a:r>
            <a:endParaRPr sz="1200">
              <a:solidFill>
                <a:srgbClr val="0000FF"/>
              </a:solidFill>
            </a:endParaRPr>
          </a:p>
          <a:p>
            <a:pPr indent="-304800" lvl="0" marL="457200" rtl="0" algn="l">
              <a:spcBef>
                <a:spcPts val="0"/>
              </a:spcBef>
              <a:spcAft>
                <a:spcPts val="0"/>
              </a:spcAft>
              <a:buClr>
                <a:srgbClr val="000000"/>
              </a:buClr>
              <a:buSzPts val="1200"/>
              <a:buChar char="●"/>
            </a:pPr>
            <a:r>
              <a:rPr lang="en" sz="1200">
                <a:solidFill>
                  <a:srgbClr val="000000"/>
                </a:solidFill>
              </a:rPr>
              <a:t>Z. Xu et al., “Retrieval-Augmented Generation with Knowledge Graphs for Customer Service Question Answering,” 2024, doi: </a:t>
            </a:r>
            <a:r>
              <a:rPr lang="en" sz="1200" u="sng">
                <a:solidFill>
                  <a:srgbClr val="0000FF"/>
                </a:solidFill>
                <a:hlinkClick r:id="rId7">
                  <a:extLst>
                    <a:ext uri="{A12FA001-AC4F-418D-AE19-62706E023703}">
                      <ahyp:hlinkClr val="tx"/>
                    </a:ext>
                  </a:extLst>
                </a:hlinkClick>
              </a:rPr>
              <a:t>https://doi.org/10.1145/3626772.3661370</a:t>
            </a:r>
            <a:r>
              <a:rPr lang="en" sz="1200">
                <a:solidFill>
                  <a:srgbClr val="0000FF"/>
                </a:solidFill>
              </a:rPr>
              <a:t>.</a:t>
            </a:r>
            <a:endParaRPr sz="1200">
              <a:solidFill>
                <a:srgbClr val="0000FF"/>
              </a:solidFill>
            </a:endParaRPr>
          </a:p>
          <a:p>
            <a:pPr indent="-304800" lvl="0" marL="457200" rtl="0" algn="l">
              <a:spcBef>
                <a:spcPts val="0"/>
              </a:spcBef>
              <a:spcAft>
                <a:spcPts val="0"/>
              </a:spcAft>
              <a:buClr>
                <a:srgbClr val="000000"/>
              </a:buClr>
              <a:buSzPts val="1200"/>
              <a:buChar char="●"/>
            </a:pPr>
            <a:r>
              <a:rPr lang="en" sz="1200">
                <a:solidFill>
                  <a:srgbClr val="000000"/>
                </a:solidFill>
              </a:rPr>
              <a:t>“Example datasets - Getting Started,” Neo4j Graph Data Platform. </a:t>
            </a:r>
            <a:r>
              <a:rPr lang="en" sz="1200" u="sng">
                <a:solidFill>
                  <a:srgbClr val="0000FF"/>
                </a:solidFill>
                <a:hlinkClick r:id="rId8">
                  <a:extLst>
                    <a:ext uri="{A12FA001-AC4F-418D-AE19-62706E023703}">
                      <ahyp:hlinkClr val="tx"/>
                    </a:ext>
                  </a:extLst>
                </a:hlinkClick>
              </a:rPr>
              <a:t>https://neo4j.com/docs/getting-started/appendix/example-data/</a:t>
            </a:r>
            <a:endParaRPr sz="1200">
              <a:solidFill>
                <a:srgbClr val="0000FF"/>
              </a:solidFill>
            </a:endParaRPr>
          </a:p>
        </p:txBody>
      </p:sp>
      <p:sp>
        <p:nvSpPr>
          <p:cNvPr id="292" name="Google Shape;292;p31"/>
          <p:cNvSpPr txBox="1"/>
          <p:nvPr>
            <p:ph idx="12" type="sldNum"/>
          </p:nvPr>
        </p:nvSpPr>
        <p:spPr>
          <a:xfrm>
            <a:off x="8390734" y="205693"/>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b="1" lang="en"/>
              <a:t>15</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96" name="Shape 296"/>
        <p:cNvGrpSpPr/>
        <p:nvPr/>
      </p:nvGrpSpPr>
      <p:grpSpPr>
        <a:xfrm>
          <a:off x="0" y="0"/>
          <a:ext cx="0" cy="0"/>
          <a:chOff x="0" y="0"/>
          <a:chExt cx="0" cy="0"/>
        </a:xfrm>
      </p:grpSpPr>
      <p:sp>
        <p:nvSpPr>
          <p:cNvPr id="297" name="Google Shape;297;p3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rgbClr val="000000"/>
                </a:solidFill>
              </a:rPr>
              <a:t>Thank You</a:t>
            </a:r>
            <a:endParaRPr b="1">
              <a:solidFill>
                <a:srgbClr val="000000"/>
              </a:solidFill>
            </a:endParaRPr>
          </a:p>
        </p:txBody>
      </p:sp>
      <p:sp>
        <p:nvSpPr>
          <p:cNvPr id="298" name="Google Shape;298;p3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000000"/>
                </a:solidFill>
              </a:rPr>
              <a:t>Any Questions?</a:t>
            </a:r>
            <a:endParaRPr b="1">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